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7" r:id="rId2"/>
    <p:sldId id="266" r:id="rId3"/>
    <p:sldId id="258" r:id="rId4"/>
    <p:sldId id="259" r:id="rId5"/>
    <p:sldId id="261" r:id="rId6"/>
    <p:sldId id="264" r:id="rId7"/>
    <p:sldId id="270" r:id="rId8"/>
    <p:sldId id="263" r:id="rId9"/>
    <p:sldId id="262" r:id="rId10"/>
    <p:sldId id="269" r:id="rId11"/>
    <p:sldId id="268" r:id="rId12"/>
    <p:sldId id="271" r:id="rId13"/>
    <p:sldId id="256"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994" autoAdjust="0"/>
    <p:restoredTop sz="94660"/>
  </p:normalViewPr>
  <p:slideViewPr>
    <p:cSldViewPr snapToGrid="0">
      <p:cViewPr varScale="1">
        <p:scale>
          <a:sx n="92" d="100"/>
          <a:sy n="92" d="100"/>
        </p:scale>
        <p:origin x="66" y="3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9CDC3F9-833A-4667-A7FB-E7AB5D36E7E6}" type="datetimeFigureOut">
              <a:rPr lang="en-US" smtClean="0"/>
              <a:t>11/4/2024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3E6CB99-702A-45D6-B0E6-2B1A41A60338}" type="slidenum">
              <a:rPr lang="en-US" smtClean="0"/>
              <a:t>‹#›</a:t>
            </a:fld>
            <a:endParaRPr lang="en-US"/>
          </a:p>
        </p:txBody>
      </p:sp>
    </p:spTree>
    <p:extLst>
      <p:ext uri="{BB962C8B-B14F-4D97-AF65-F5344CB8AC3E}">
        <p14:creationId xmlns:p14="http://schemas.microsoft.com/office/powerpoint/2010/main" val="1003140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3E6CB99-702A-45D6-B0E6-2B1A41A60338}" type="slidenum">
              <a:rPr lang="en-US" smtClean="0"/>
              <a:t>2</a:t>
            </a:fld>
            <a:endParaRPr lang="en-US"/>
          </a:p>
        </p:txBody>
      </p:sp>
    </p:spTree>
    <p:extLst>
      <p:ext uri="{BB962C8B-B14F-4D97-AF65-F5344CB8AC3E}">
        <p14:creationId xmlns:p14="http://schemas.microsoft.com/office/powerpoint/2010/main" val="40765007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72B9A-4C88-CA1B-ED8B-6C2A721BA27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2826D98-96BF-FE21-8640-5BA90B40F66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7804BAC-23A4-40AE-03E9-1E9452857B83}"/>
              </a:ext>
            </a:extLst>
          </p:cNvPr>
          <p:cNvSpPr>
            <a:spLocks noGrp="1"/>
          </p:cNvSpPr>
          <p:nvPr>
            <p:ph type="dt" sz="half" idx="10"/>
          </p:nvPr>
        </p:nvSpPr>
        <p:spPr/>
        <p:txBody>
          <a:bodyPr/>
          <a:lstStyle/>
          <a:p>
            <a:fld id="{A6507194-77FA-4986-8B22-39A7E4582D4C}" type="datetimeFigureOut">
              <a:rPr lang="en-US" smtClean="0"/>
              <a:t>11/4/2024</a:t>
            </a:fld>
            <a:endParaRPr lang="en-US"/>
          </a:p>
        </p:txBody>
      </p:sp>
      <p:sp>
        <p:nvSpPr>
          <p:cNvPr id="5" name="Footer Placeholder 4">
            <a:extLst>
              <a:ext uri="{FF2B5EF4-FFF2-40B4-BE49-F238E27FC236}">
                <a16:creationId xmlns:a16="http://schemas.microsoft.com/office/drawing/2014/main" id="{52FFD33A-32C5-7AE6-7341-67AF061F075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0307FAB-E9B2-A389-090D-63BA2F154A4F}"/>
              </a:ext>
            </a:extLst>
          </p:cNvPr>
          <p:cNvSpPr>
            <a:spLocks noGrp="1"/>
          </p:cNvSpPr>
          <p:nvPr>
            <p:ph type="sldNum" sz="quarter" idx="12"/>
          </p:nvPr>
        </p:nvSpPr>
        <p:spPr/>
        <p:txBody>
          <a:bodyPr/>
          <a:lstStyle/>
          <a:p>
            <a:fld id="{24D6A134-2152-4E2B-BE7B-31750A81A49E}" type="slidenum">
              <a:rPr lang="en-US" smtClean="0"/>
              <a:t>‹#›</a:t>
            </a:fld>
            <a:endParaRPr lang="en-US"/>
          </a:p>
        </p:txBody>
      </p:sp>
    </p:spTree>
    <p:extLst>
      <p:ext uri="{BB962C8B-B14F-4D97-AF65-F5344CB8AC3E}">
        <p14:creationId xmlns:p14="http://schemas.microsoft.com/office/powerpoint/2010/main" val="39174569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FD9B5F-1DB4-6E0E-4F0A-B4B19966BF7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3C08EEB-0DFC-8095-2AF9-E81863A41B3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510CCAD-E426-9438-6011-181EE2CCFF16}"/>
              </a:ext>
            </a:extLst>
          </p:cNvPr>
          <p:cNvSpPr>
            <a:spLocks noGrp="1"/>
          </p:cNvSpPr>
          <p:nvPr>
            <p:ph type="dt" sz="half" idx="10"/>
          </p:nvPr>
        </p:nvSpPr>
        <p:spPr/>
        <p:txBody>
          <a:bodyPr/>
          <a:lstStyle/>
          <a:p>
            <a:fld id="{A6507194-77FA-4986-8B22-39A7E4582D4C}" type="datetimeFigureOut">
              <a:rPr lang="en-US" smtClean="0"/>
              <a:t>11/4/2024</a:t>
            </a:fld>
            <a:endParaRPr lang="en-US"/>
          </a:p>
        </p:txBody>
      </p:sp>
      <p:sp>
        <p:nvSpPr>
          <p:cNvPr id="5" name="Footer Placeholder 4">
            <a:extLst>
              <a:ext uri="{FF2B5EF4-FFF2-40B4-BE49-F238E27FC236}">
                <a16:creationId xmlns:a16="http://schemas.microsoft.com/office/drawing/2014/main" id="{268F64DC-D3E0-D675-6858-CB5FF79EB5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279C8BD-F64E-C419-D1C9-9229A6843783}"/>
              </a:ext>
            </a:extLst>
          </p:cNvPr>
          <p:cNvSpPr>
            <a:spLocks noGrp="1"/>
          </p:cNvSpPr>
          <p:nvPr>
            <p:ph type="sldNum" sz="quarter" idx="12"/>
          </p:nvPr>
        </p:nvSpPr>
        <p:spPr/>
        <p:txBody>
          <a:bodyPr/>
          <a:lstStyle/>
          <a:p>
            <a:fld id="{24D6A134-2152-4E2B-BE7B-31750A81A49E}" type="slidenum">
              <a:rPr lang="en-US" smtClean="0"/>
              <a:t>‹#›</a:t>
            </a:fld>
            <a:endParaRPr lang="en-US"/>
          </a:p>
        </p:txBody>
      </p:sp>
    </p:spTree>
    <p:extLst>
      <p:ext uri="{BB962C8B-B14F-4D97-AF65-F5344CB8AC3E}">
        <p14:creationId xmlns:p14="http://schemas.microsoft.com/office/powerpoint/2010/main" val="16196432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2A3306-3CD5-6639-C7EF-A9418A9BFAF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8C5F7E8-0B7E-5862-DAC8-41A950AB775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EC2E702-D5B5-2439-AD16-7A22679BA790}"/>
              </a:ext>
            </a:extLst>
          </p:cNvPr>
          <p:cNvSpPr>
            <a:spLocks noGrp="1"/>
          </p:cNvSpPr>
          <p:nvPr>
            <p:ph type="dt" sz="half" idx="10"/>
          </p:nvPr>
        </p:nvSpPr>
        <p:spPr/>
        <p:txBody>
          <a:bodyPr/>
          <a:lstStyle/>
          <a:p>
            <a:fld id="{A6507194-77FA-4986-8B22-39A7E4582D4C}" type="datetimeFigureOut">
              <a:rPr lang="en-US" smtClean="0"/>
              <a:t>11/4/2024</a:t>
            </a:fld>
            <a:endParaRPr lang="en-US"/>
          </a:p>
        </p:txBody>
      </p:sp>
      <p:sp>
        <p:nvSpPr>
          <p:cNvPr id="5" name="Footer Placeholder 4">
            <a:extLst>
              <a:ext uri="{FF2B5EF4-FFF2-40B4-BE49-F238E27FC236}">
                <a16:creationId xmlns:a16="http://schemas.microsoft.com/office/drawing/2014/main" id="{F502663A-355A-30C4-73CB-3D9F59EB40A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AB636D1-EEE0-B628-BB56-8C0570ACD0A7}"/>
              </a:ext>
            </a:extLst>
          </p:cNvPr>
          <p:cNvSpPr>
            <a:spLocks noGrp="1"/>
          </p:cNvSpPr>
          <p:nvPr>
            <p:ph type="sldNum" sz="quarter" idx="12"/>
          </p:nvPr>
        </p:nvSpPr>
        <p:spPr/>
        <p:txBody>
          <a:bodyPr/>
          <a:lstStyle/>
          <a:p>
            <a:fld id="{24D6A134-2152-4E2B-BE7B-31750A81A49E}" type="slidenum">
              <a:rPr lang="en-US" smtClean="0"/>
              <a:t>‹#›</a:t>
            </a:fld>
            <a:endParaRPr lang="en-US"/>
          </a:p>
        </p:txBody>
      </p:sp>
    </p:spTree>
    <p:extLst>
      <p:ext uri="{BB962C8B-B14F-4D97-AF65-F5344CB8AC3E}">
        <p14:creationId xmlns:p14="http://schemas.microsoft.com/office/powerpoint/2010/main" val="11111879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9ADAE5-82A7-4063-85AB-75F5E783E02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CF98768-3735-E687-0533-F5021684005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1A9B395-265D-35DB-7138-CDED01AC016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B5AA63D-CCB4-2141-6C2A-D10AFB92CD81}"/>
              </a:ext>
            </a:extLst>
          </p:cNvPr>
          <p:cNvSpPr>
            <a:spLocks noGrp="1"/>
          </p:cNvSpPr>
          <p:nvPr>
            <p:ph type="dt" sz="half" idx="10"/>
          </p:nvPr>
        </p:nvSpPr>
        <p:spPr/>
        <p:txBody>
          <a:bodyPr/>
          <a:lstStyle/>
          <a:p>
            <a:fld id="{A6507194-77FA-4986-8B22-39A7E4582D4C}" type="datetimeFigureOut">
              <a:rPr lang="en-US" smtClean="0"/>
              <a:t>11/4/2024</a:t>
            </a:fld>
            <a:endParaRPr lang="en-US"/>
          </a:p>
        </p:txBody>
      </p:sp>
      <p:sp>
        <p:nvSpPr>
          <p:cNvPr id="6" name="Footer Placeholder 5">
            <a:extLst>
              <a:ext uri="{FF2B5EF4-FFF2-40B4-BE49-F238E27FC236}">
                <a16:creationId xmlns:a16="http://schemas.microsoft.com/office/drawing/2014/main" id="{1381CFE9-431C-5224-BB78-4C068342CEE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17E640E-9FF1-A094-FFDC-6B8AE4FD92CA}"/>
              </a:ext>
            </a:extLst>
          </p:cNvPr>
          <p:cNvSpPr>
            <a:spLocks noGrp="1"/>
          </p:cNvSpPr>
          <p:nvPr>
            <p:ph type="sldNum" sz="quarter" idx="12"/>
          </p:nvPr>
        </p:nvSpPr>
        <p:spPr/>
        <p:txBody>
          <a:bodyPr/>
          <a:lstStyle/>
          <a:p>
            <a:fld id="{24D6A134-2152-4E2B-BE7B-31750A81A49E}" type="slidenum">
              <a:rPr lang="en-US" smtClean="0"/>
              <a:t>‹#›</a:t>
            </a:fld>
            <a:endParaRPr lang="en-US"/>
          </a:p>
        </p:txBody>
      </p:sp>
    </p:spTree>
    <p:extLst>
      <p:ext uri="{BB962C8B-B14F-4D97-AF65-F5344CB8AC3E}">
        <p14:creationId xmlns:p14="http://schemas.microsoft.com/office/powerpoint/2010/main" val="6489219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27080E-A2C3-75B9-501E-13D39A1DA4F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7D1B616-60C3-CED3-2216-F5B9107A72E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45A93AF-DAAE-9FB4-401D-6F83A190257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7C22981-41E3-717A-FE99-149A93237C6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30CDF7D-572E-CB82-D2FB-526A5F5FDED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8C3BFEC-F645-DC2A-27C9-A2B9A6F60F2D}"/>
              </a:ext>
            </a:extLst>
          </p:cNvPr>
          <p:cNvSpPr>
            <a:spLocks noGrp="1"/>
          </p:cNvSpPr>
          <p:nvPr>
            <p:ph type="dt" sz="half" idx="10"/>
          </p:nvPr>
        </p:nvSpPr>
        <p:spPr/>
        <p:txBody>
          <a:bodyPr/>
          <a:lstStyle/>
          <a:p>
            <a:fld id="{A6507194-77FA-4986-8B22-39A7E4582D4C}" type="datetimeFigureOut">
              <a:rPr lang="en-US" smtClean="0"/>
              <a:t>11/4/2024</a:t>
            </a:fld>
            <a:endParaRPr lang="en-US"/>
          </a:p>
        </p:txBody>
      </p:sp>
      <p:sp>
        <p:nvSpPr>
          <p:cNvPr id="8" name="Footer Placeholder 7">
            <a:extLst>
              <a:ext uri="{FF2B5EF4-FFF2-40B4-BE49-F238E27FC236}">
                <a16:creationId xmlns:a16="http://schemas.microsoft.com/office/drawing/2014/main" id="{14837603-CB82-DA9A-EA61-D7499A63001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4B53081-3DC4-FBE9-FFD5-ED5B87F7EE16}"/>
              </a:ext>
            </a:extLst>
          </p:cNvPr>
          <p:cNvSpPr>
            <a:spLocks noGrp="1"/>
          </p:cNvSpPr>
          <p:nvPr>
            <p:ph type="sldNum" sz="quarter" idx="12"/>
          </p:nvPr>
        </p:nvSpPr>
        <p:spPr/>
        <p:txBody>
          <a:bodyPr/>
          <a:lstStyle/>
          <a:p>
            <a:fld id="{24D6A134-2152-4E2B-BE7B-31750A81A49E}" type="slidenum">
              <a:rPr lang="en-US" smtClean="0"/>
              <a:t>‹#›</a:t>
            </a:fld>
            <a:endParaRPr lang="en-US"/>
          </a:p>
        </p:txBody>
      </p:sp>
    </p:spTree>
    <p:extLst>
      <p:ext uri="{BB962C8B-B14F-4D97-AF65-F5344CB8AC3E}">
        <p14:creationId xmlns:p14="http://schemas.microsoft.com/office/powerpoint/2010/main" val="10976119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8353D6-B538-9EF7-4985-A73392F0168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9366F08-0BA8-5056-0EC4-0B59C764867A}"/>
              </a:ext>
            </a:extLst>
          </p:cNvPr>
          <p:cNvSpPr>
            <a:spLocks noGrp="1"/>
          </p:cNvSpPr>
          <p:nvPr>
            <p:ph type="dt" sz="half" idx="10"/>
          </p:nvPr>
        </p:nvSpPr>
        <p:spPr/>
        <p:txBody>
          <a:bodyPr/>
          <a:lstStyle/>
          <a:p>
            <a:fld id="{A6507194-77FA-4986-8B22-39A7E4582D4C}" type="datetimeFigureOut">
              <a:rPr lang="en-US" smtClean="0"/>
              <a:t>11/4/2024</a:t>
            </a:fld>
            <a:endParaRPr lang="en-US"/>
          </a:p>
        </p:txBody>
      </p:sp>
      <p:sp>
        <p:nvSpPr>
          <p:cNvPr id="4" name="Footer Placeholder 3">
            <a:extLst>
              <a:ext uri="{FF2B5EF4-FFF2-40B4-BE49-F238E27FC236}">
                <a16:creationId xmlns:a16="http://schemas.microsoft.com/office/drawing/2014/main" id="{495934B6-95A3-8DA0-D0D4-E8795D5115B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859A479-06D5-F803-4081-C6CF0C69C226}"/>
              </a:ext>
            </a:extLst>
          </p:cNvPr>
          <p:cNvSpPr>
            <a:spLocks noGrp="1"/>
          </p:cNvSpPr>
          <p:nvPr>
            <p:ph type="sldNum" sz="quarter" idx="12"/>
          </p:nvPr>
        </p:nvSpPr>
        <p:spPr/>
        <p:txBody>
          <a:bodyPr/>
          <a:lstStyle/>
          <a:p>
            <a:fld id="{24D6A134-2152-4E2B-BE7B-31750A81A49E}" type="slidenum">
              <a:rPr lang="en-US" smtClean="0"/>
              <a:t>‹#›</a:t>
            </a:fld>
            <a:endParaRPr lang="en-US"/>
          </a:p>
        </p:txBody>
      </p:sp>
    </p:spTree>
    <p:extLst>
      <p:ext uri="{BB962C8B-B14F-4D97-AF65-F5344CB8AC3E}">
        <p14:creationId xmlns:p14="http://schemas.microsoft.com/office/powerpoint/2010/main" val="23432054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730B045-9B5A-3F1F-5AF4-628B3BCF3AEB}"/>
              </a:ext>
            </a:extLst>
          </p:cNvPr>
          <p:cNvSpPr>
            <a:spLocks noGrp="1"/>
          </p:cNvSpPr>
          <p:nvPr>
            <p:ph type="dt" sz="half" idx="10"/>
          </p:nvPr>
        </p:nvSpPr>
        <p:spPr/>
        <p:txBody>
          <a:bodyPr/>
          <a:lstStyle/>
          <a:p>
            <a:fld id="{A6507194-77FA-4986-8B22-39A7E4582D4C}" type="datetimeFigureOut">
              <a:rPr lang="en-US" smtClean="0"/>
              <a:t>11/4/2024</a:t>
            </a:fld>
            <a:endParaRPr lang="en-US"/>
          </a:p>
        </p:txBody>
      </p:sp>
      <p:sp>
        <p:nvSpPr>
          <p:cNvPr id="3" name="Footer Placeholder 2">
            <a:extLst>
              <a:ext uri="{FF2B5EF4-FFF2-40B4-BE49-F238E27FC236}">
                <a16:creationId xmlns:a16="http://schemas.microsoft.com/office/drawing/2014/main" id="{80547E1B-9FC7-6904-C62B-E4D69F7CFA5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21CB80-5689-BD16-EB94-82D5550A4F10}"/>
              </a:ext>
            </a:extLst>
          </p:cNvPr>
          <p:cNvSpPr>
            <a:spLocks noGrp="1"/>
          </p:cNvSpPr>
          <p:nvPr>
            <p:ph type="sldNum" sz="quarter" idx="12"/>
          </p:nvPr>
        </p:nvSpPr>
        <p:spPr/>
        <p:txBody>
          <a:bodyPr/>
          <a:lstStyle/>
          <a:p>
            <a:fld id="{24D6A134-2152-4E2B-BE7B-31750A81A49E}" type="slidenum">
              <a:rPr lang="en-US" smtClean="0"/>
              <a:t>‹#›</a:t>
            </a:fld>
            <a:endParaRPr lang="en-US"/>
          </a:p>
        </p:txBody>
      </p:sp>
    </p:spTree>
    <p:extLst>
      <p:ext uri="{BB962C8B-B14F-4D97-AF65-F5344CB8AC3E}">
        <p14:creationId xmlns:p14="http://schemas.microsoft.com/office/powerpoint/2010/main" val="2609884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DD55B4-98F8-7C08-0E6D-D117F611841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820A901-5556-F7FF-766A-D8F329E4731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AC17707-C97B-0373-6A00-B7FC01C18D6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E7BDD88-B703-0A61-D916-43AC3E9F7EFE}"/>
              </a:ext>
            </a:extLst>
          </p:cNvPr>
          <p:cNvSpPr>
            <a:spLocks noGrp="1"/>
          </p:cNvSpPr>
          <p:nvPr>
            <p:ph type="dt" sz="half" idx="10"/>
          </p:nvPr>
        </p:nvSpPr>
        <p:spPr/>
        <p:txBody>
          <a:bodyPr/>
          <a:lstStyle/>
          <a:p>
            <a:fld id="{A6507194-77FA-4986-8B22-39A7E4582D4C}" type="datetimeFigureOut">
              <a:rPr lang="en-US" smtClean="0"/>
              <a:t>11/4/2024</a:t>
            </a:fld>
            <a:endParaRPr lang="en-US"/>
          </a:p>
        </p:txBody>
      </p:sp>
      <p:sp>
        <p:nvSpPr>
          <p:cNvPr id="6" name="Footer Placeholder 5">
            <a:extLst>
              <a:ext uri="{FF2B5EF4-FFF2-40B4-BE49-F238E27FC236}">
                <a16:creationId xmlns:a16="http://schemas.microsoft.com/office/drawing/2014/main" id="{D20AA441-DE7A-10DA-076A-F56E0231C31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B84A90D-6C34-1B95-C755-740D0DD6B86C}"/>
              </a:ext>
            </a:extLst>
          </p:cNvPr>
          <p:cNvSpPr>
            <a:spLocks noGrp="1"/>
          </p:cNvSpPr>
          <p:nvPr>
            <p:ph type="sldNum" sz="quarter" idx="12"/>
          </p:nvPr>
        </p:nvSpPr>
        <p:spPr/>
        <p:txBody>
          <a:bodyPr/>
          <a:lstStyle/>
          <a:p>
            <a:fld id="{24D6A134-2152-4E2B-BE7B-31750A81A49E}" type="slidenum">
              <a:rPr lang="en-US" smtClean="0"/>
              <a:t>‹#›</a:t>
            </a:fld>
            <a:endParaRPr lang="en-US"/>
          </a:p>
        </p:txBody>
      </p:sp>
    </p:spTree>
    <p:extLst>
      <p:ext uri="{BB962C8B-B14F-4D97-AF65-F5344CB8AC3E}">
        <p14:creationId xmlns:p14="http://schemas.microsoft.com/office/powerpoint/2010/main" val="22812724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59952B-EB65-1E09-044B-B3596AF8352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366857E-218F-162C-E951-BD86B5F88B9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D325829-D40D-2B40-62AB-82A6396393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EBE0BAC-B7F9-3223-08D2-C2ADBD9E7FBB}"/>
              </a:ext>
            </a:extLst>
          </p:cNvPr>
          <p:cNvSpPr>
            <a:spLocks noGrp="1"/>
          </p:cNvSpPr>
          <p:nvPr>
            <p:ph type="dt" sz="half" idx="10"/>
          </p:nvPr>
        </p:nvSpPr>
        <p:spPr/>
        <p:txBody>
          <a:bodyPr/>
          <a:lstStyle/>
          <a:p>
            <a:fld id="{A6507194-77FA-4986-8B22-39A7E4582D4C}" type="datetimeFigureOut">
              <a:rPr lang="en-US" smtClean="0"/>
              <a:t>11/4/2024</a:t>
            </a:fld>
            <a:endParaRPr lang="en-US"/>
          </a:p>
        </p:txBody>
      </p:sp>
      <p:sp>
        <p:nvSpPr>
          <p:cNvPr id="6" name="Footer Placeholder 5">
            <a:extLst>
              <a:ext uri="{FF2B5EF4-FFF2-40B4-BE49-F238E27FC236}">
                <a16:creationId xmlns:a16="http://schemas.microsoft.com/office/drawing/2014/main" id="{DDC3B9C2-86AA-FD3A-1CA5-4B61704F3B9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6B05109-A017-785D-2D33-88F1ADD1577E}"/>
              </a:ext>
            </a:extLst>
          </p:cNvPr>
          <p:cNvSpPr>
            <a:spLocks noGrp="1"/>
          </p:cNvSpPr>
          <p:nvPr>
            <p:ph type="sldNum" sz="quarter" idx="12"/>
          </p:nvPr>
        </p:nvSpPr>
        <p:spPr/>
        <p:txBody>
          <a:bodyPr/>
          <a:lstStyle/>
          <a:p>
            <a:fld id="{24D6A134-2152-4E2B-BE7B-31750A81A49E}" type="slidenum">
              <a:rPr lang="en-US" smtClean="0"/>
              <a:t>‹#›</a:t>
            </a:fld>
            <a:endParaRPr lang="en-US"/>
          </a:p>
        </p:txBody>
      </p:sp>
    </p:spTree>
    <p:extLst>
      <p:ext uri="{BB962C8B-B14F-4D97-AF65-F5344CB8AC3E}">
        <p14:creationId xmlns:p14="http://schemas.microsoft.com/office/powerpoint/2010/main" val="4454270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6D11F-8791-DB9C-4963-E9F8B65574E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6A7DE60-F84B-D00C-7AEE-6E1AAFC2A6B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39B1725-A318-CD26-25EC-DCB6D65A3BC5}"/>
              </a:ext>
            </a:extLst>
          </p:cNvPr>
          <p:cNvSpPr>
            <a:spLocks noGrp="1"/>
          </p:cNvSpPr>
          <p:nvPr>
            <p:ph type="dt" sz="half" idx="10"/>
          </p:nvPr>
        </p:nvSpPr>
        <p:spPr/>
        <p:txBody>
          <a:bodyPr/>
          <a:lstStyle/>
          <a:p>
            <a:fld id="{A6507194-77FA-4986-8B22-39A7E4582D4C}" type="datetimeFigureOut">
              <a:rPr lang="en-US" smtClean="0"/>
              <a:t>11/4/2024</a:t>
            </a:fld>
            <a:endParaRPr lang="en-US"/>
          </a:p>
        </p:txBody>
      </p:sp>
      <p:sp>
        <p:nvSpPr>
          <p:cNvPr id="5" name="Footer Placeholder 4">
            <a:extLst>
              <a:ext uri="{FF2B5EF4-FFF2-40B4-BE49-F238E27FC236}">
                <a16:creationId xmlns:a16="http://schemas.microsoft.com/office/drawing/2014/main" id="{E8631728-0E84-C54D-467B-F65BDCC9781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74581B-10C7-CCA8-DB8F-F2469552D5EE}"/>
              </a:ext>
            </a:extLst>
          </p:cNvPr>
          <p:cNvSpPr>
            <a:spLocks noGrp="1"/>
          </p:cNvSpPr>
          <p:nvPr>
            <p:ph type="sldNum" sz="quarter" idx="12"/>
          </p:nvPr>
        </p:nvSpPr>
        <p:spPr/>
        <p:txBody>
          <a:bodyPr/>
          <a:lstStyle/>
          <a:p>
            <a:fld id="{24D6A134-2152-4E2B-BE7B-31750A81A49E}" type="slidenum">
              <a:rPr lang="en-US" smtClean="0"/>
              <a:t>‹#›</a:t>
            </a:fld>
            <a:endParaRPr lang="en-US"/>
          </a:p>
        </p:txBody>
      </p:sp>
    </p:spTree>
    <p:extLst>
      <p:ext uri="{BB962C8B-B14F-4D97-AF65-F5344CB8AC3E}">
        <p14:creationId xmlns:p14="http://schemas.microsoft.com/office/powerpoint/2010/main" val="35429838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35A8410-9A61-5489-58C3-780084FC0FE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D77C5CC-5420-BF81-96D2-B4EB0A9F2EC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1B0D6F9-0C57-776E-6623-79B436E49FED}"/>
              </a:ext>
            </a:extLst>
          </p:cNvPr>
          <p:cNvSpPr>
            <a:spLocks noGrp="1"/>
          </p:cNvSpPr>
          <p:nvPr>
            <p:ph type="dt" sz="half" idx="10"/>
          </p:nvPr>
        </p:nvSpPr>
        <p:spPr/>
        <p:txBody>
          <a:bodyPr/>
          <a:lstStyle/>
          <a:p>
            <a:fld id="{A6507194-77FA-4986-8B22-39A7E4582D4C}" type="datetimeFigureOut">
              <a:rPr lang="en-US" smtClean="0"/>
              <a:t>11/4/2024</a:t>
            </a:fld>
            <a:endParaRPr lang="en-US"/>
          </a:p>
        </p:txBody>
      </p:sp>
      <p:sp>
        <p:nvSpPr>
          <p:cNvPr id="5" name="Footer Placeholder 4">
            <a:extLst>
              <a:ext uri="{FF2B5EF4-FFF2-40B4-BE49-F238E27FC236}">
                <a16:creationId xmlns:a16="http://schemas.microsoft.com/office/drawing/2014/main" id="{B0067ADB-E9CB-333C-B427-2359360573B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2FF176-F6CD-E173-C3EC-D475AAC8C0B1}"/>
              </a:ext>
            </a:extLst>
          </p:cNvPr>
          <p:cNvSpPr>
            <a:spLocks noGrp="1"/>
          </p:cNvSpPr>
          <p:nvPr>
            <p:ph type="sldNum" sz="quarter" idx="12"/>
          </p:nvPr>
        </p:nvSpPr>
        <p:spPr/>
        <p:txBody>
          <a:bodyPr/>
          <a:lstStyle/>
          <a:p>
            <a:fld id="{24D6A134-2152-4E2B-BE7B-31750A81A49E}" type="slidenum">
              <a:rPr lang="en-US" smtClean="0"/>
              <a:t>‹#›</a:t>
            </a:fld>
            <a:endParaRPr lang="en-US"/>
          </a:p>
        </p:txBody>
      </p:sp>
    </p:spTree>
    <p:extLst>
      <p:ext uri="{BB962C8B-B14F-4D97-AF65-F5344CB8AC3E}">
        <p14:creationId xmlns:p14="http://schemas.microsoft.com/office/powerpoint/2010/main" val="27969735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CBD4AF7-9F5F-39BF-85D2-B978F2A84C0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8C13CB5-329E-8570-E448-76ED7D9DAE2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D142D4F-4556-77C4-C8FD-226EA201688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6507194-77FA-4986-8B22-39A7E4582D4C}" type="datetimeFigureOut">
              <a:rPr lang="en-US" smtClean="0"/>
              <a:t>11/4/2024</a:t>
            </a:fld>
            <a:endParaRPr lang="en-US"/>
          </a:p>
        </p:txBody>
      </p:sp>
      <p:sp>
        <p:nvSpPr>
          <p:cNvPr id="5" name="Footer Placeholder 4">
            <a:extLst>
              <a:ext uri="{FF2B5EF4-FFF2-40B4-BE49-F238E27FC236}">
                <a16:creationId xmlns:a16="http://schemas.microsoft.com/office/drawing/2014/main" id="{A80DF307-11C7-EA24-92C9-4F351F8D5B8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2A0D32F-404B-05F8-0E50-978A5191127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4D6A134-2152-4E2B-BE7B-31750A81A49E}" type="slidenum">
              <a:rPr lang="en-US" smtClean="0"/>
              <a:t>‹#›</a:t>
            </a:fld>
            <a:endParaRPr lang="en-US"/>
          </a:p>
        </p:txBody>
      </p:sp>
    </p:spTree>
    <p:extLst>
      <p:ext uri="{BB962C8B-B14F-4D97-AF65-F5344CB8AC3E}">
        <p14:creationId xmlns:p14="http://schemas.microsoft.com/office/powerpoint/2010/main" val="698108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8" Type="http://schemas.openxmlformats.org/officeDocument/2006/relationships/image" Target="../media/image17.jpeg"/><Relationship Id="rId3" Type="http://schemas.openxmlformats.org/officeDocument/2006/relationships/image" Target="../media/image12.png"/><Relationship Id="rId7" Type="http://schemas.openxmlformats.org/officeDocument/2006/relationships/image" Target="../media/image16.jpe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 Id="rId9" Type="http://schemas.openxmlformats.org/officeDocument/2006/relationships/image" Target="../media/image18.jpeg"/></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 Id="rId5" Type="http://schemas.openxmlformats.org/officeDocument/2006/relationships/hyperlink" Target="https://levifahring.github.io/ku_bootcamp_project3/Project%203/Scripts/us_state_map/index.html" TargetMode="External"/><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4.jpeg"/></Relationships>
</file>

<file path=ppt/slides/_rels/slide1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extLst>
              <a:ext uri="{BEBA8EAE-BF5A-486C-A8C5-ECC9F3942E4B}">
                <a14:imgProps xmlns:a14="http://schemas.microsoft.com/office/drawing/2010/main">
                  <a14:imgLayer r:embed="rId3">
                    <a14:imgEffect>
                      <a14:saturation sat="218000"/>
                    </a14:imgEffect>
                  </a14:imgLayer>
                </a14:imgProps>
              </a:ext>
            </a:extLst>
          </a:blip>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D8BCCC-C116-FDBC-4A30-507731F1D47D}"/>
              </a:ext>
            </a:extLst>
          </p:cNvPr>
          <p:cNvSpPr>
            <a:spLocks noGrp="1"/>
          </p:cNvSpPr>
          <p:nvPr>
            <p:ph type="ctrTitle"/>
          </p:nvPr>
        </p:nvSpPr>
        <p:spPr>
          <a:xfrm>
            <a:off x="0" y="1705132"/>
            <a:ext cx="5160135" cy="1775383"/>
          </a:xfrm>
        </p:spPr>
        <p:txBody>
          <a:bodyPr>
            <a:normAutofit fontScale="90000"/>
          </a:bodyPr>
          <a:lstStyle/>
          <a:p>
            <a:r>
              <a:rPr lang="en-US" dirty="0">
                <a:solidFill>
                  <a:srgbClr val="00B0F0"/>
                </a:solidFill>
              </a:rPr>
              <a:t>Mental Health</a:t>
            </a:r>
            <a:br>
              <a:rPr lang="en-US" dirty="0">
                <a:solidFill>
                  <a:srgbClr val="00B0F0"/>
                </a:solidFill>
              </a:rPr>
            </a:br>
            <a:r>
              <a:rPr lang="en-US" dirty="0">
                <a:solidFill>
                  <a:srgbClr val="00B0F0"/>
                </a:solidFill>
              </a:rPr>
              <a:t>2020 – 2022</a:t>
            </a:r>
            <a:br>
              <a:rPr lang="en-US" dirty="0">
                <a:solidFill>
                  <a:srgbClr val="00B0F0"/>
                </a:solidFill>
              </a:rPr>
            </a:br>
            <a:r>
              <a:rPr lang="en-US" dirty="0">
                <a:solidFill>
                  <a:srgbClr val="00B0F0"/>
                </a:solidFill>
              </a:rPr>
              <a:t>Snapshot</a:t>
            </a:r>
          </a:p>
        </p:txBody>
      </p:sp>
      <p:sp>
        <p:nvSpPr>
          <p:cNvPr id="3" name="Subtitle 2">
            <a:extLst>
              <a:ext uri="{FF2B5EF4-FFF2-40B4-BE49-F238E27FC236}">
                <a16:creationId xmlns:a16="http://schemas.microsoft.com/office/drawing/2014/main" id="{C4B62692-67CD-5916-E567-39786420BD0D}"/>
              </a:ext>
            </a:extLst>
          </p:cNvPr>
          <p:cNvSpPr>
            <a:spLocks noGrp="1"/>
          </p:cNvSpPr>
          <p:nvPr>
            <p:ph type="subTitle" idx="1"/>
          </p:nvPr>
        </p:nvSpPr>
        <p:spPr>
          <a:xfrm>
            <a:off x="8980868" y="5057350"/>
            <a:ext cx="3769217" cy="1655762"/>
          </a:xfrm>
        </p:spPr>
        <p:txBody>
          <a:bodyPr>
            <a:normAutofit lnSpcReduction="10000"/>
          </a:bodyPr>
          <a:lstStyle/>
          <a:p>
            <a:r>
              <a:rPr lang="en-US" dirty="0">
                <a:solidFill>
                  <a:schemeClr val="bg1"/>
                </a:solidFill>
              </a:rPr>
              <a:t>Presented by:</a:t>
            </a:r>
          </a:p>
          <a:p>
            <a:r>
              <a:rPr lang="en-US" dirty="0">
                <a:solidFill>
                  <a:schemeClr val="bg1"/>
                </a:solidFill>
              </a:rPr>
              <a:t>Adam Raffel</a:t>
            </a:r>
          </a:p>
          <a:p>
            <a:r>
              <a:rPr lang="en-US" dirty="0">
                <a:solidFill>
                  <a:schemeClr val="bg1"/>
                </a:solidFill>
              </a:rPr>
              <a:t>Heidi Fox</a:t>
            </a:r>
          </a:p>
          <a:p>
            <a:r>
              <a:rPr lang="en-US" dirty="0">
                <a:solidFill>
                  <a:schemeClr val="bg1"/>
                </a:solidFill>
              </a:rPr>
              <a:t>Levi Fahring</a:t>
            </a:r>
          </a:p>
        </p:txBody>
      </p:sp>
    </p:spTree>
    <p:extLst>
      <p:ext uri="{BB962C8B-B14F-4D97-AF65-F5344CB8AC3E}">
        <p14:creationId xmlns:p14="http://schemas.microsoft.com/office/powerpoint/2010/main" val="27881618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useBgFill="1">
        <p:nvSpPr>
          <p:cNvPr id="1055" name="Rectangle 1054">
            <a:extLst>
              <a:ext uri="{FF2B5EF4-FFF2-40B4-BE49-F238E27FC236}">
                <a16:creationId xmlns:a16="http://schemas.microsoft.com/office/drawing/2014/main" id="{B6FACB3C-9069-4791-BC5C-0DB7CD19B8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6" name="Rectangle 1055">
            <a:extLst>
              <a:ext uri="{FF2B5EF4-FFF2-40B4-BE49-F238E27FC236}">
                <a16:creationId xmlns:a16="http://schemas.microsoft.com/office/drawing/2014/main" id="{71F2038E-D777-4B76-81DD-DD13EE91B9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CD32A7DC-2608-BA4B-982F-8345F631734E}"/>
              </a:ext>
            </a:extLst>
          </p:cNvPr>
          <p:cNvSpPr txBox="1"/>
          <p:nvPr/>
        </p:nvSpPr>
        <p:spPr>
          <a:xfrm>
            <a:off x="804672" y="802955"/>
            <a:ext cx="4766330" cy="1454051"/>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3600" i="1" kern="1200" dirty="0">
                <a:solidFill>
                  <a:schemeClr val="tx2"/>
                </a:solidFill>
                <a:latin typeface="+mj-lt"/>
                <a:ea typeface="+mj-ea"/>
                <a:cs typeface="+mj-cs"/>
              </a:rPr>
              <a:t>Ethical Consideration</a:t>
            </a:r>
          </a:p>
        </p:txBody>
      </p:sp>
      <p:sp>
        <p:nvSpPr>
          <p:cNvPr id="2" name="TextBox 1">
            <a:extLst>
              <a:ext uri="{FF2B5EF4-FFF2-40B4-BE49-F238E27FC236}">
                <a16:creationId xmlns:a16="http://schemas.microsoft.com/office/drawing/2014/main" id="{12DF9E67-53CD-824F-54B2-C9B01A7E7B52}"/>
              </a:ext>
            </a:extLst>
          </p:cNvPr>
          <p:cNvSpPr txBox="1"/>
          <p:nvPr/>
        </p:nvSpPr>
        <p:spPr>
          <a:xfrm>
            <a:off x="804672" y="2421683"/>
            <a:ext cx="4765949" cy="3353476"/>
          </a:xfrm>
          <a:prstGeom prst="rect">
            <a:avLst/>
          </a:prstGeom>
        </p:spPr>
        <p:txBody>
          <a:bodyPr vert="horz" lIns="91440" tIns="45720" rIns="91440" bIns="45720" rtlCol="0" anchor="t">
            <a:noAutofit/>
          </a:bodyPr>
          <a:lstStyle/>
          <a:p>
            <a:pPr>
              <a:lnSpc>
                <a:spcPct val="90000"/>
              </a:lnSpc>
              <a:spcAft>
                <a:spcPts val="600"/>
              </a:spcAft>
            </a:pPr>
            <a:r>
              <a:rPr lang="en-US" sz="1600" dirty="0">
                <a:solidFill>
                  <a:schemeClr val="tx2"/>
                </a:solidFill>
              </a:rPr>
              <a:t>When presenting a project about mental health and SUD, it is crucial to approach the topic with sensitivity and ethical responsibility. First and foremost, it's essential to prioritize the mental health and well-being of the audience by providing content that is informative yet respectful, avoiding sensationalism or graphic details that could trigger distress. Clear content warnings should be included to prepare viewers for potentially distressing topics. Additionally, it is important to ensure accuracy in the information presented, drawing from credible sources and research to avoid spreading misinformation. Lastly, fostering an open dialogue that encourages understanding and compassion can help create a supportive environment, allowing individuals to engage with the subject matter thoughtfully and empathetically.</a:t>
            </a:r>
          </a:p>
        </p:txBody>
      </p:sp>
      <p:grpSp>
        <p:nvGrpSpPr>
          <p:cNvPr id="1057" name="Group 1056">
            <a:extLst>
              <a:ext uri="{FF2B5EF4-FFF2-40B4-BE49-F238E27FC236}">
                <a16:creationId xmlns:a16="http://schemas.microsoft.com/office/drawing/2014/main" id="{DD354807-230F-4402-B1B9-F733A8F1F19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18240" y="-16714"/>
            <a:ext cx="6373761" cy="6874714"/>
            <a:chOff x="5818240" y="-1"/>
            <a:chExt cx="6373761" cy="6874714"/>
          </a:xfrm>
        </p:grpSpPr>
        <p:sp>
          <p:nvSpPr>
            <p:cNvPr id="1051" name="Freeform: Shape 1050">
              <a:extLst>
                <a:ext uri="{FF2B5EF4-FFF2-40B4-BE49-F238E27FC236}">
                  <a16:creationId xmlns:a16="http://schemas.microsoft.com/office/drawing/2014/main" id="{BF5A6F4A-CE87-4D5C-9382-8167967CE8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18240" y="-1"/>
              <a:ext cx="6373761" cy="6874714"/>
            </a:xfrm>
            <a:custGeom>
              <a:avLst/>
              <a:gdLst>
                <a:gd name="connsiteX0" fmla="*/ 6373761 w 6373761"/>
                <a:gd name="connsiteY0" fmla="*/ 5771297 h 6874714"/>
                <a:gd name="connsiteX1" fmla="*/ 6373761 w 6373761"/>
                <a:gd name="connsiteY1" fmla="*/ 6247960 h 6874714"/>
                <a:gd name="connsiteX2" fmla="*/ 6235932 w 6373761"/>
                <a:gd name="connsiteY2" fmla="*/ 6361930 h 6874714"/>
                <a:gd name="connsiteX3" fmla="*/ 5960375 w 6373761"/>
                <a:gd name="connsiteY3" fmla="*/ 6587489 h 6874714"/>
                <a:gd name="connsiteX4" fmla="*/ 5822907 w 6373761"/>
                <a:gd name="connsiteY4" fmla="*/ 6701871 h 6874714"/>
                <a:gd name="connsiteX5" fmla="*/ 5681115 w 6373761"/>
                <a:gd name="connsiteY5" fmla="*/ 6816896 h 6874714"/>
                <a:gd name="connsiteX6" fmla="*/ 5604096 w 6373761"/>
                <a:gd name="connsiteY6" fmla="*/ 6874714 h 6874714"/>
                <a:gd name="connsiteX7" fmla="*/ 4878485 w 6373761"/>
                <a:gd name="connsiteY7" fmla="*/ 6874714 h 6874714"/>
                <a:gd name="connsiteX8" fmla="*/ 5006014 w 6373761"/>
                <a:gd name="connsiteY8" fmla="*/ 6800200 h 6874714"/>
                <a:gd name="connsiteX9" fmla="*/ 5149855 w 6373761"/>
                <a:gd name="connsiteY9" fmla="*/ 6707667 h 6874714"/>
                <a:gd name="connsiteX10" fmla="*/ 5431866 w 6373761"/>
                <a:gd name="connsiteY10" fmla="*/ 6506210 h 6874714"/>
                <a:gd name="connsiteX11" fmla="*/ 5571036 w 6373761"/>
                <a:gd name="connsiteY11" fmla="*/ 6399557 h 6874714"/>
                <a:gd name="connsiteX12" fmla="*/ 5711649 w 6373761"/>
                <a:gd name="connsiteY12" fmla="*/ 6288912 h 6874714"/>
                <a:gd name="connsiteX13" fmla="*/ 6276589 w 6373761"/>
                <a:gd name="connsiteY13" fmla="*/ 5852379 h 6874714"/>
                <a:gd name="connsiteX14" fmla="*/ 3975975 w 6373761"/>
                <a:gd name="connsiteY14" fmla="*/ 263 h 6874714"/>
                <a:gd name="connsiteX15" fmla="*/ 4350473 w 6373761"/>
                <a:gd name="connsiteY15" fmla="*/ 24963 h 6874714"/>
                <a:gd name="connsiteX16" fmla="*/ 5077909 w 6373761"/>
                <a:gd name="connsiteY16" fmla="*/ 189450 h 6874714"/>
                <a:gd name="connsiteX17" fmla="*/ 5746507 w 6373761"/>
                <a:gd name="connsiteY17" fmla="*/ 505804 h 6874714"/>
                <a:gd name="connsiteX18" fmla="*/ 6322456 w 6373761"/>
                <a:gd name="connsiteY18" fmla="*/ 956633 h 6874714"/>
                <a:gd name="connsiteX19" fmla="*/ 6373761 w 6373761"/>
                <a:gd name="connsiteY19" fmla="*/ 1011863 h 6874714"/>
                <a:gd name="connsiteX20" fmla="*/ 6373761 w 6373761"/>
                <a:gd name="connsiteY20" fmla="*/ 1185075 h 6874714"/>
                <a:gd name="connsiteX21" fmla="*/ 6359489 w 6373761"/>
                <a:gd name="connsiteY21" fmla="*/ 1169497 h 6874714"/>
                <a:gd name="connsiteX22" fmla="*/ 6233869 w 6373761"/>
                <a:gd name="connsiteY22" fmla="*/ 1047442 h 6874714"/>
                <a:gd name="connsiteX23" fmla="*/ 5961423 w 6373761"/>
                <a:gd name="connsiteY23" fmla="*/ 827953 h 6874714"/>
                <a:gd name="connsiteX24" fmla="*/ 5663555 w 6373761"/>
                <a:gd name="connsiteY24" fmla="*/ 645304 h 6874714"/>
                <a:gd name="connsiteX25" fmla="*/ 5013827 w 6373761"/>
                <a:gd name="connsiteY25" fmla="*/ 397863 h 6874714"/>
                <a:gd name="connsiteX26" fmla="*/ 4327409 w 6373761"/>
                <a:gd name="connsiteY26" fmla="*/ 302545 h 6874714"/>
                <a:gd name="connsiteX27" fmla="*/ 3639939 w 6373761"/>
                <a:gd name="connsiteY27" fmla="*/ 338868 h 6874714"/>
                <a:gd name="connsiteX28" fmla="*/ 3302495 w 6373761"/>
                <a:gd name="connsiteY28" fmla="*/ 403659 h 6874714"/>
                <a:gd name="connsiteX29" fmla="*/ 2971604 w 6373761"/>
                <a:gd name="connsiteY29" fmla="*/ 496273 h 6874714"/>
                <a:gd name="connsiteX30" fmla="*/ 2648706 w 6373761"/>
                <a:gd name="connsiteY30" fmla="*/ 614389 h 6874714"/>
                <a:gd name="connsiteX31" fmla="*/ 2335374 w 6373761"/>
                <a:gd name="connsiteY31" fmla="*/ 757109 h 6874714"/>
                <a:gd name="connsiteX32" fmla="*/ 1741342 w 6373761"/>
                <a:gd name="connsiteY32" fmla="*/ 1107725 h 6874714"/>
                <a:gd name="connsiteX33" fmla="*/ 1600861 w 6373761"/>
                <a:gd name="connsiteY33" fmla="*/ 1208710 h 6874714"/>
                <a:gd name="connsiteX34" fmla="*/ 1531799 w 6373761"/>
                <a:gd name="connsiteY34" fmla="*/ 1260879 h 6874714"/>
                <a:gd name="connsiteX35" fmla="*/ 1463655 w 6373761"/>
                <a:gd name="connsiteY35" fmla="*/ 1314333 h 6874714"/>
                <a:gd name="connsiteX36" fmla="*/ 1200777 w 6373761"/>
                <a:gd name="connsiteY36" fmla="*/ 1541166 h 6874714"/>
                <a:gd name="connsiteX37" fmla="*/ 731501 w 6373761"/>
                <a:gd name="connsiteY37" fmla="*/ 2055754 h 6874714"/>
                <a:gd name="connsiteX38" fmla="*/ 531393 w 6373761"/>
                <a:gd name="connsiteY38" fmla="*/ 2342739 h 6874714"/>
                <a:gd name="connsiteX39" fmla="*/ 361033 w 6373761"/>
                <a:gd name="connsiteY39" fmla="*/ 2649046 h 6874714"/>
                <a:gd name="connsiteX40" fmla="*/ 323292 w 6373761"/>
                <a:gd name="connsiteY40" fmla="*/ 2728263 h 6874714"/>
                <a:gd name="connsiteX41" fmla="*/ 304945 w 6373761"/>
                <a:gd name="connsiteY41" fmla="*/ 2768193 h 6874714"/>
                <a:gd name="connsiteX42" fmla="*/ 287516 w 6373761"/>
                <a:gd name="connsiteY42" fmla="*/ 2808510 h 6874714"/>
                <a:gd name="connsiteX43" fmla="*/ 254230 w 6373761"/>
                <a:gd name="connsiteY43" fmla="*/ 2889788 h 6874714"/>
                <a:gd name="connsiteX44" fmla="*/ 223042 w 6373761"/>
                <a:gd name="connsiteY44" fmla="*/ 2971968 h 6874714"/>
                <a:gd name="connsiteX45" fmla="*/ 121611 w 6373761"/>
                <a:gd name="connsiteY45" fmla="*/ 3308544 h 6874714"/>
                <a:gd name="connsiteX46" fmla="*/ 39314 w 6373761"/>
                <a:gd name="connsiteY46" fmla="*/ 4005912 h 6874714"/>
                <a:gd name="connsiteX47" fmla="*/ 73910 w 6373761"/>
                <a:gd name="connsiteY47" fmla="*/ 4354081 h 6874714"/>
                <a:gd name="connsiteX48" fmla="*/ 179534 w 6373761"/>
                <a:gd name="connsiteY48" fmla="*/ 4687050 h 6874714"/>
                <a:gd name="connsiteX49" fmla="*/ 215964 w 6373761"/>
                <a:gd name="connsiteY49" fmla="*/ 4766654 h 6874714"/>
                <a:gd name="connsiteX50" fmla="*/ 256457 w 6373761"/>
                <a:gd name="connsiteY50" fmla="*/ 4844455 h 6874714"/>
                <a:gd name="connsiteX51" fmla="*/ 346225 w 6373761"/>
                <a:gd name="connsiteY51" fmla="*/ 4995290 h 6874714"/>
                <a:gd name="connsiteX52" fmla="*/ 445296 w 6373761"/>
                <a:gd name="connsiteY52" fmla="*/ 5140971 h 6874714"/>
                <a:gd name="connsiteX53" fmla="*/ 551443 w 6373761"/>
                <a:gd name="connsiteY53" fmla="*/ 5282531 h 6874714"/>
                <a:gd name="connsiteX54" fmla="*/ 772387 w 6373761"/>
                <a:gd name="connsiteY54" fmla="*/ 5562561 h 6874714"/>
                <a:gd name="connsiteX55" fmla="*/ 882858 w 6373761"/>
                <a:gd name="connsiteY55" fmla="*/ 5704507 h 6874714"/>
                <a:gd name="connsiteX56" fmla="*/ 990316 w 6373761"/>
                <a:gd name="connsiteY56" fmla="*/ 5848258 h 6874714"/>
                <a:gd name="connsiteX57" fmla="*/ 1097774 w 6373761"/>
                <a:gd name="connsiteY57" fmla="*/ 5987114 h 6874714"/>
                <a:gd name="connsiteX58" fmla="*/ 1210080 w 6373761"/>
                <a:gd name="connsiteY58" fmla="*/ 6121203 h 6874714"/>
                <a:gd name="connsiteX59" fmla="*/ 1448192 w 6373761"/>
                <a:gd name="connsiteY59" fmla="*/ 6374054 h 6874714"/>
                <a:gd name="connsiteX60" fmla="*/ 1982991 w 6373761"/>
                <a:gd name="connsiteY60" fmla="*/ 6796158 h 6874714"/>
                <a:gd name="connsiteX61" fmla="*/ 2118475 w 6373761"/>
                <a:gd name="connsiteY61" fmla="*/ 6874714 h 6874714"/>
                <a:gd name="connsiteX62" fmla="*/ 1569874 w 6373761"/>
                <a:gd name="connsiteY62" fmla="*/ 6874714 h 6874714"/>
                <a:gd name="connsiteX63" fmla="*/ 1507802 w 6373761"/>
                <a:gd name="connsiteY63" fmla="*/ 6817815 h 6874714"/>
                <a:gd name="connsiteX64" fmla="*/ 1256865 w 6373761"/>
                <a:gd name="connsiteY64" fmla="*/ 6543437 h 6874714"/>
                <a:gd name="connsiteX65" fmla="*/ 1038410 w 6373761"/>
                <a:gd name="connsiteY65" fmla="*/ 6248722 h 6874714"/>
                <a:gd name="connsiteX66" fmla="*/ 845380 w 6373761"/>
                <a:gd name="connsiteY66" fmla="*/ 5941386 h 6874714"/>
                <a:gd name="connsiteX67" fmla="*/ 755351 w 6373761"/>
                <a:gd name="connsiteY67" fmla="*/ 5788877 h 6874714"/>
                <a:gd name="connsiteX68" fmla="*/ 661784 w 6373761"/>
                <a:gd name="connsiteY68" fmla="*/ 5638944 h 6874714"/>
                <a:gd name="connsiteX69" fmla="*/ 466525 w 6373761"/>
                <a:gd name="connsiteY69" fmla="*/ 5340366 h 6874714"/>
                <a:gd name="connsiteX70" fmla="*/ 370992 w 6373761"/>
                <a:gd name="connsiteY70" fmla="*/ 5188502 h 6874714"/>
                <a:gd name="connsiteX71" fmla="*/ 280046 w 6373761"/>
                <a:gd name="connsiteY71" fmla="*/ 5033287 h 6874714"/>
                <a:gd name="connsiteX72" fmla="*/ 126853 w 6373761"/>
                <a:gd name="connsiteY72" fmla="*/ 4707660 h 6874714"/>
                <a:gd name="connsiteX73" fmla="*/ 30272 w 6373761"/>
                <a:gd name="connsiteY73" fmla="*/ 4362068 h 6874714"/>
                <a:gd name="connsiteX74" fmla="*/ 0 w 6373761"/>
                <a:gd name="connsiteY74" fmla="*/ 4005912 h 6874714"/>
                <a:gd name="connsiteX75" fmla="*/ 270480 w 6373761"/>
                <a:gd name="connsiteY75" fmla="*/ 2610532 h 6874714"/>
                <a:gd name="connsiteX76" fmla="*/ 415942 w 6373761"/>
                <a:gd name="connsiteY76" fmla="*/ 2280526 h 6874714"/>
                <a:gd name="connsiteX77" fmla="*/ 590102 w 6373761"/>
                <a:gd name="connsiteY77" fmla="*/ 1962626 h 6874714"/>
                <a:gd name="connsiteX78" fmla="*/ 1020719 w 6373761"/>
                <a:gd name="connsiteY78" fmla="*/ 1373070 h 6874714"/>
                <a:gd name="connsiteX79" fmla="*/ 1275080 w 6373761"/>
                <a:gd name="connsiteY79" fmla="*/ 1107081 h 6874714"/>
                <a:gd name="connsiteX80" fmla="*/ 1342437 w 6373761"/>
                <a:gd name="connsiteY80" fmla="*/ 1043965 h 6874714"/>
                <a:gd name="connsiteX81" fmla="*/ 1411106 w 6373761"/>
                <a:gd name="connsiteY81" fmla="*/ 982138 h 6874714"/>
                <a:gd name="connsiteX82" fmla="*/ 1553029 w 6373761"/>
                <a:gd name="connsiteY82" fmla="*/ 863376 h 6874714"/>
                <a:gd name="connsiteX83" fmla="*/ 2173401 w 6373761"/>
                <a:gd name="connsiteY83" fmla="*/ 454409 h 6874714"/>
                <a:gd name="connsiteX84" fmla="*/ 3599708 w 6373761"/>
                <a:gd name="connsiteY84" fmla="*/ 16332 h 6874714"/>
                <a:gd name="connsiteX85" fmla="*/ 3975975 w 6373761"/>
                <a:gd name="connsiteY85" fmla="*/ 263 h 6874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6373761" h="6874714">
                  <a:moveTo>
                    <a:pt x="6373761" y="5771297"/>
                  </a:moveTo>
                  <a:lnTo>
                    <a:pt x="6373761" y="6247960"/>
                  </a:lnTo>
                  <a:lnTo>
                    <a:pt x="6235932" y="6361930"/>
                  </a:lnTo>
                  <a:cubicBezTo>
                    <a:pt x="6143250" y="6437460"/>
                    <a:pt x="6051059" y="6512200"/>
                    <a:pt x="5960375" y="6587489"/>
                  </a:cubicBezTo>
                  <a:lnTo>
                    <a:pt x="5822907" y="6701871"/>
                  </a:lnTo>
                  <a:cubicBezTo>
                    <a:pt x="5776123" y="6740385"/>
                    <a:pt x="5729079" y="6778899"/>
                    <a:pt x="5681115" y="6816896"/>
                  </a:cubicBezTo>
                  <a:lnTo>
                    <a:pt x="5604096" y="6874714"/>
                  </a:lnTo>
                  <a:lnTo>
                    <a:pt x="4878485" y="6874714"/>
                  </a:lnTo>
                  <a:lnTo>
                    <a:pt x="5006014" y="6800200"/>
                  </a:lnTo>
                  <a:cubicBezTo>
                    <a:pt x="5054354" y="6770429"/>
                    <a:pt x="5102285" y="6739483"/>
                    <a:pt x="5149855" y="6707667"/>
                  </a:cubicBezTo>
                  <a:cubicBezTo>
                    <a:pt x="5244993" y="6643906"/>
                    <a:pt x="5338561" y="6576025"/>
                    <a:pt x="5431866" y="6506210"/>
                  </a:cubicBezTo>
                  <a:cubicBezTo>
                    <a:pt x="5478386" y="6471304"/>
                    <a:pt x="5524777" y="6435495"/>
                    <a:pt x="5571036" y="6399557"/>
                  </a:cubicBezTo>
                  <a:lnTo>
                    <a:pt x="5711649" y="6288912"/>
                  </a:lnTo>
                  <a:cubicBezTo>
                    <a:pt x="5902059" y="6140395"/>
                    <a:pt x="6093257" y="5998320"/>
                    <a:pt x="6276589" y="5852379"/>
                  </a:cubicBezTo>
                  <a:close/>
                  <a:moveTo>
                    <a:pt x="3975975" y="263"/>
                  </a:moveTo>
                  <a:cubicBezTo>
                    <a:pt x="4101550" y="1809"/>
                    <a:pt x="4226830" y="10149"/>
                    <a:pt x="4350473" y="24963"/>
                  </a:cubicBezTo>
                  <a:cubicBezTo>
                    <a:pt x="4598149" y="54846"/>
                    <a:pt x="4842943" y="108687"/>
                    <a:pt x="5077909" y="189450"/>
                  </a:cubicBezTo>
                  <a:cubicBezTo>
                    <a:pt x="5312876" y="269955"/>
                    <a:pt x="5537357" y="376867"/>
                    <a:pt x="5746507" y="505804"/>
                  </a:cubicBezTo>
                  <a:cubicBezTo>
                    <a:pt x="5955527" y="634999"/>
                    <a:pt x="6148688" y="786864"/>
                    <a:pt x="6322456" y="956633"/>
                  </a:cubicBezTo>
                  <a:lnTo>
                    <a:pt x="6373761" y="1011863"/>
                  </a:lnTo>
                  <a:lnTo>
                    <a:pt x="6373761" y="1185075"/>
                  </a:lnTo>
                  <a:lnTo>
                    <a:pt x="6359489" y="1169497"/>
                  </a:lnTo>
                  <a:cubicBezTo>
                    <a:pt x="6318811" y="1127602"/>
                    <a:pt x="6276917" y="1086890"/>
                    <a:pt x="6233869" y="1047442"/>
                  </a:cubicBezTo>
                  <a:cubicBezTo>
                    <a:pt x="6147509" y="968870"/>
                    <a:pt x="6056431" y="895448"/>
                    <a:pt x="5961423" y="827953"/>
                  </a:cubicBezTo>
                  <a:cubicBezTo>
                    <a:pt x="5865891" y="761102"/>
                    <a:pt x="5766688" y="699403"/>
                    <a:pt x="5663555" y="645304"/>
                  </a:cubicBezTo>
                  <a:cubicBezTo>
                    <a:pt x="5457943" y="535816"/>
                    <a:pt x="5238703" y="453894"/>
                    <a:pt x="5013827" y="397863"/>
                  </a:cubicBezTo>
                  <a:cubicBezTo>
                    <a:pt x="4788953" y="341703"/>
                    <a:pt x="4558442" y="310917"/>
                    <a:pt x="4327409" y="302545"/>
                  </a:cubicBezTo>
                  <a:cubicBezTo>
                    <a:pt x="4096111" y="293012"/>
                    <a:pt x="3867174" y="305893"/>
                    <a:pt x="3639939" y="338868"/>
                  </a:cubicBezTo>
                  <a:cubicBezTo>
                    <a:pt x="3526585" y="355999"/>
                    <a:pt x="3413885" y="377254"/>
                    <a:pt x="3302495" y="403659"/>
                  </a:cubicBezTo>
                  <a:cubicBezTo>
                    <a:pt x="3191107" y="430451"/>
                    <a:pt x="3080634" y="460978"/>
                    <a:pt x="2971604" y="496273"/>
                  </a:cubicBezTo>
                  <a:cubicBezTo>
                    <a:pt x="2862573" y="531437"/>
                    <a:pt x="2754854" y="570852"/>
                    <a:pt x="2648706" y="614389"/>
                  </a:cubicBezTo>
                  <a:cubicBezTo>
                    <a:pt x="2542690" y="658056"/>
                    <a:pt x="2438114" y="705714"/>
                    <a:pt x="2335374" y="757109"/>
                  </a:cubicBezTo>
                  <a:cubicBezTo>
                    <a:pt x="2129894" y="859769"/>
                    <a:pt x="1931228" y="976855"/>
                    <a:pt x="1741342" y="1107725"/>
                  </a:cubicBezTo>
                  <a:cubicBezTo>
                    <a:pt x="1694035" y="1140571"/>
                    <a:pt x="1646858" y="1173933"/>
                    <a:pt x="1600861" y="1208710"/>
                  </a:cubicBezTo>
                  <a:cubicBezTo>
                    <a:pt x="1577535" y="1225713"/>
                    <a:pt x="1554732" y="1243361"/>
                    <a:pt x="1531799" y="1260879"/>
                  </a:cubicBezTo>
                  <a:cubicBezTo>
                    <a:pt x="1508735" y="1278267"/>
                    <a:pt x="1486064" y="1296171"/>
                    <a:pt x="1463655" y="1314333"/>
                  </a:cubicBezTo>
                  <a:cubicBezTo>
                    <a:pt x="1373627" y="1386853"/>
                    <a:pt x="1285564" y="1462077"/>
                    <a:pt x="1200777" y="1541166"/>
                  </a:cubicBezTo>
                  <a:cubicBezTo>
                    <a:pt x="1030810" y="1698827"/>
                    <a:pt x="873161" y="1870785"/>
                    <a:pt x="731501" y="2055754"/>
                  </a:cubicBezTo>
                  <a:cubicBezTo>
                    <a:pt x="660734" y="2148239"/>
                    <a:pt x="593771" y="2243944"/>
                    <a:pt x="531393" y="2342739"/>
                  </a:cubicBezTo>
                  <a:cubicBezTo>
                    <a:pt x="470063" y="2442050"/>
                    <a:pt x="412140" y="2543810"/>
                    <a:pt x="361033" y="2649046"/>
                  </a:cubicBezTo>
                  <a:cubicBezTo>
                    <a:pt x="347798" y="2675194"/>
                    <a:pt x="335479" y="2701728"/>
                    <a:pt x="323292" y="2728263"/>
                  </a:cubicBezTo>
                  <a:lnTo>
                    <a:pt x="304945" y="2768193"/>
                  </a:lnTo>
                  <a:lnTo>
                    <a:pt x="287516" y="2808510"/>
                  </a:lnTo>
                  <a:cubicBezTo>
                    <a:pt x="276115" y="2835432"/>
                    <a:pt x="264583" y="2862352"/>
                    <a:pt x="254230" y="2889788"/>
                  </a:cubicBezTo>
                  <a:cubicBezTo>
                    <a:pt x="243877" y="2917224"/>
                    <a:pt x="232477" y="2944274"/>
                    <a:pt x="223042" y="2971968"/>
                  </a:cubicBezTo>
                  <a:cubicBezTo>
                    <a:pt x="182679" y="3081970"/>
                    <a:pt x="148475" y="3194291"/>
                    <a:pt x="121611" y="3308544"/>
                  </a:cubicBezTo>
                  <a:cubicBezTo>
                    <a:pt x="67096" y="3536534"/>
                    <a:pt x="39183" y="3771224"/>
                    <a:pt x="39314" y="4005912"/>
                  </a:cubicBezTo>
                  <a:cubicBezTo>
                    <a:pt x="39969" y="4122871"/>
                    <a:pt x="51109" y="4239571"/>
                    <a:pt x="73910" y="4354081"/>
                  </a:cubicBezTo>
                  <a:cubicBezTo>
                    <a:pt x="97892" y="4468334"/>
                    <a:pt x="132619" y="4580140"/>
                    <a:pt x="179534" y="4687050"/>
                  </a:cubicBezTo>
                  <a:cubicBezTo>
                    <a:pt x="190673" y="4713972"/>
                    <a:pt x="203647" y="4740249"/>
                    <a:pt x="215964" y="4766654"/>
                  </a:cubicBezTo>
                  <a:cubicBezTo>
                    <a:pt x="229332" y="4792674"/>
                    <a:pt x="242043" y="4818950"/>
                    <a:pt x="256457" y="4844455"/>
                  </a:cubicBezTo>
                  <a:cubicBezTo>
                    <a:pt x="283978" y="4895978"/>
                    <a:pt x="314642" y="4945956"/>
                    <a:pt x="346225" y="4995290"/>
                  </a:cubicBezTo>
                  <a:cubicBezTo>
                    <a:pt x="377676" y="5044752"/>
                    <a:pt x="411355" y="5092926"/>
                    <a:pt x="445296" y="5140971"/>
                  </a:cubicBezTo>
                  <a:cubicBezTo>
                    <a:pt x="479760" y="5188630"/>
                    <a:pt x="515537" y="5235645"/>
                    <a:pt x="551443" y="5282531"/>
                  </a:cubicBezTo>
                  <a:cubicBezTo>
                    <a:pt x="623387" y="5376434"/>
                    <a:pt x="698608" y="5468402"/>
                    <a:pt x="772387" y="5562561"/>
                  </a:cubicBezTo>
                  <a:cubicBezTo>
                    <a:pt x="809472" y="5609448"/>
                    <a:pt x="846428" y="5656719"/>
                    <a:pt x="882858" y="5704507"/>
                  </a:cubicBezTo>
                  <a:cubicBezTo>
                    <a:pt x="919159" y="5751909"/>
                    <a:pt x="955196" y="5802273"/>
                    <a:pt x="990316" y="5848258"/>
                  </a:cubicBezTo>
                  <a:cubicBezTo>
                    <a:pt x="1025175" y="5895402"/>
                    <a:pt x="1061736" y="5941129"/>
                    <a:pt x="1097774" y="5987114"/>
                  </a:cubicBezTo>
                  <a:cubicBezTo>
                    <a:pt x="1134860" y="6032326"/>
                    <a:pt x="1171684" y="6077536"/>
                    <a:pt x="1210080" y="6121203"/>
                  </a:cubicBezTo>
                  <a:cubicBezTo>
                    <a:pt x="1286350" y="6209051"/>
                    <a:pt x="1365632" y="6293677"/>
                    <a:pt x="1448192" y="6374054"/>
                  </a:cubicBezTo>
                  <a:cubicBezTo>
                    <a:pt x="1613572" y="6534420"/>
                    <a:pt x="1792057" y="6677526"/>
                    <a:pt x="1982991" y="6796158"/>
                  </a:cubicBezTo>
                  <a:lnTo>
                    <a:pt x="2118475" y="6874714"/>
                  </a:lnTo>
                  <a:lnTo>
                    <a:pt x="1569874" y="6874714"/>
                  </a:lnTo>
                  <a:lnTo>
                    <a:pt x="1507802" y="6817815"/>
                  </a:lnTo>
                  <a:cubicBezTo>
                    <a:pt x="1418412" y="6730595"/>
                    <a:pt x="1334903" y="6638562"/>
                    <a:pt x="1256865" y="6543437"/>
                  </a:cubicBezTo>
                  <a:cubicBezTo>
                    <a:pt x="1179155" y="6447861"/>
                    <a:pt x="1106817" y="6349194"/>
                    <a:pt x="1038410" y="6248722"/>
                  </a:cubicBezTo>
                  <a:cubicBezTo>
                    <a:pt x="969873" y="6148253"/>
                    <a:pt x="905922" y="6045592"/>
                    <a:pt x="845380" y="5941386"/>
                  </a:cubicBezTo>
                  <a:cubicBezTo>
                    <a:pt x="814453" y="5888704"/>
                    <a:pt x="786147" y="5839370"/>
                    <a:pt x="755351" y="5788877"/>
                  </a:cubicBezTo>
                  <a:cubicBezTo>
                    <a:pt x="724817" y="5738771"/>
                    <a:pt x="693760" y="5688665"/>
                    <a:pt x="661784" y="5638944"/>
                  </a:cubicBezTo>
                  <a:lnTo>
                    <a:pt x="466525" y="5340366"/>
                  </a:lnTo>
                  <a:cubicBezTo>
                    <a:pt x="434156" y="5290131"/>
                    <a:pt x="402181" y="5239639"/>
                    <a:pt x="370992" y="5188502"/>
                  </a:cubicBezTo>
                  <a:cubicBezTo>
                    <a:pt x="339803" y="5137364"/>
                    <a:pt x="308876" y="5086099"/>
                    <a:pt x="280046" y="5033287"/>
                  </a:cubicBezTo>
                  <a:cubicBezTo>
                    <a:pt x="222255" y="4928179"/>
                    <a:pt x="169181" y="4819982"/>
                    <a:pt x="126853" y="4707660"/>
                  </a:cubicBezTo>
                  <a:cubicBezTo>
                    <a:pt x="83739" y="4595725"/>
                    <a:pt x="51764" y="4479670"/>
                    <a:pt x="30272" y="4362068"/>
                  </a:cubicBezTo>
                  <a:cubicBezTo>
                    <a:pt x="9698" y="4244466"/>
                    <a:pt x="0" y="4125060"/>
                    <a:pt x="0" y="4005912"/>
                  </a:cubicBezTo>
                  <a:cubicBezTo>
                    <a:pt x="1704" y="3530867"/>
                    <a:pt x="95140" y="3057110"/>
                    <a:pt x="270480" y="2610532"/>
                  </a:cubicBezTo>
                  <a:cubicBezTo>
                    <a:pt x="314511" y="2498984"/>
                    <a:pt x="362212" y="2388466"/>
                    <a:pt x="415942" y="2280526"/>
                  </a:cubicBezTo>
                  <a:cubicBezTo>
                    <a:pt x="468884" y="2172197"/>
                    <a:pt x="527199" y="2066188"/>
                    <a:pt x="590102" y="1962626"/>
                  </a:cubicBezTo>
                  <a:cubicBezTo>
                    <a:pt x="716037" y="1755631"/>
                    <a:pt x="859794" y="1557653"/>
                    <a:pt x="1020719" y="1373070"/>
                  </a:cubicBezTo>
                  <a:cubicBezTo>
                    <a:pt x="1101575" y="1281101"/>
                    <a:pt x="1185969" y="1191838"/>
                    <a:pt x="1275080" y="1107081"/>
                  </a:cubicBezTo>
                  <a:cubicBezTo>
                    <a:pt x="1297227" y="1085699"/>
                    <a:pt x="1319504" y="1064575"/>
                    <a:pt x="1342437" y="1043965"/>
                  </a:cubicBezTo>
                  <a:cubicBezTo>
                    <a:pt x="1365240" y="1023226"/>
                    <a:pt x="1387648" y="1002102"/>
                    <a:pt x="1411106" y="982138"/>
                  </a:cubicBezTo>
                  <a:cubicBezTo>
                    <a:pt x="1457497" y="941563"/>
                    <a:pt x="1505065" y="902276"/>
                    <a:pt x="1553029" y="863376"/>
                  </a:cubicBezTo>
                  <a:cubicBezTo>
                    <a:pt x="1745798" y="708806"/>
                    <a:pt x="1954030" y="571882"/>
                    <a:pt x="2173401" y="454409"/>
                  </a:cubicBezTo>
                  <a:cubicBezTo>
                    <a:pt x="2612013" y="219334"/>
                    <a:pt x="3099505" y="65666"/>
                    <a:pt x="3599708" y="16332"/>
                  </a:cubicBezTo>
                  <a:cubicBezTo>
                    <a:pt x="3724530" y="3966"/>
                    <a:pt x="3850400" y="-1283"/>
                    <a:pt x="3975975" y="26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2" name="Freeform: Shape 1051">
              <a:extLst>
                <a:ext uri="{FF2B5EF4-FFF2-40B4-BE49-F238E27FC236}">
                  <a16:creationId xmlns:a16="http://schemas.microsoft.com/office/drawing/2014/main" id="{61023DD2-2E6F-4419-B404-80F08460B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65276" y="313387"/>
              <a:ext cx="6326724" cy="6561326"/>
            </a:xfrm>
            <a:custGeom>
              <a:avLst/>
              <a:gdLst>
                <a:gd name="connsiteX0" fmla="*/ 6326724 w 6326724"/>
                <a:gd name="connsiteY0" fmla="*/ 5020808 h 6561326"/>
                <a:gd name="connsiteX1" fmla="*/ 6326724 w 6326724"/>
                <a:gd name="connsiteY1" fmla="*/ 5698632 h 6561326"/>
                <a:gd name="connsiteX2" fmla="*/ 6067438 w 6326724"/>
                <a:gd name="connsiteY2" fmla="*/ 5902509 h 6561326"/>
                <a:gd name="connsiteX3" fmla="*/ 5799974 w 6326724"/>
                <a:gd name="connsiteY3" fmla="*/ 6102017 h 6561326"/>
                <a:gd name="connsiteX4" fmla="*/ 5665258 w 6326724"/>
                <a:gd name="connsiteY4" fmla="*/ 6202100 h 6561326"/>
                <a:gd name="connsiteX5" fmla="*/ 5526873 w 6326724"/>
                <a:gd name="connsiteY5" fmla="*/ 6302828 h 6561326"/>
                <a:gd name="connsiteX6" fmla="*/ 5385080 w 6326724"/>
                <a:gd name="connsiteY6" fmla="*/ 6402268 h 6561326"/>
                <a:gd name="connsiteX7" fmla="*/ 5238833 w 6326724"/>
                <a:gd name="connsiteY7" fmla="*/ 6498875 h 6561326"/>
                <a:gd name="connsiteX8" fmla="*/ 5138040 w 6326724"/>
                <a:gd name="connsiteY8" fmla="*/ 6561326 h 6561326"/>
                <a:gd name="connsiteX9" fmla="*/ 3946072 w 6326724"/>
                <a:gd name="connsiteY9" fmla="*/ 6561326 h 6561326"/>
                <a:gd name="connsiteX10" fmla="*/ 3976009 w 6326724"/>
                <a:gd name="connsiteY10" fmla="*/ 6555242 h 6561326"/>
                <a:gd name="connsiteX11" fmla="*/ 4404855 w 6326724"/>
                <a:gd name="connsiteY11" fmla="*/ 6399048 h 6561326"/>
                <a:gd name="connsiteX12" fmla="*/ 4938868 w 6326724"/>
                <a:gd name="connsiteY12" fmla="*/ 6072132 h 6561326"/>
                <a:gd name="connsiteX13" fmla="*/ 5068342 w 6326724"/>
                <a:gd name="connsiteY13" fmla="*/ 5976042 h 6561326"/>
                <a:gd name="connsiteX14" fmla="*/ 5197816 w 6326724"/>
                <a:gd name="connsiteY14" fmla="*/ 5876730 h 6561326"/>
                <a:gd name="connsiteX15" fmla="*/ 5460039 w 6326724"/>
                <a:gd name="connsiteY15" fmla="*/ 5670637 h 6561326"/>
                <a:gd name="connsiteX16" fmla="*/ 5999033 w 6326724"/>
                <a:gd name="connsiteY16" fmla="*/ 5271718 h 6561326"/>
                <a:gd name="connsiteX17" fmla="*/ 6258766 w 6326724"/>
                <a:gd name="connsiteY17" fmla="*/ 5077603 h 6561326"/>
                <a:gd name="connsiteX18" fmla="*/ 4139342 w 6326724"/>
                <a:gd name="connsiteY18" fmla="*/ 440 h 6561326"/>
                <a:gd name="connsiteX19" fmla="*/ 4315744 w 6326724"/>
                <a:gd name="connsiteY19" fmla="*/ 6808 h 6561326"/>
                <a:gd name="connsiteX20" fmla="*/ 5015400 w 6326724"/>
                <a:gd name="connsiteY20" fmla="*/ 113591 h 6561326"/>
                <a:gd name="connsiteX21" fmla="*/ 5681114 w 6326724"/>
                <a:gd name="connsiteY21" fmla="*/ 361418 h 6561326"/>
                <a:gd name="connsiteX22" fmla="*/ 6270952 w 6326724"/>
                <a:gd name="connsiteY22" fmla="*/ 755441 h 6561326"/>
                <a:gd name="connsiteX23" fmla="*/ 6326724 w 6326724"/>
                <a:gd name="connsiteY23" fmla="*/ 807432 h 6561326"/>
                <a:gd name="connsiteX24" fmla="*/ 6326724 w 6326724"/>
                <a:gd name="connsiteY24" fmla="*/ 1231565 h 6561326"/>
                <a:gd name="connsiteX25" fmla="*/ 6302093 w 6326724"/>
                <a:gd name="connsiteY25" fmla="*/ 1203002 h 6561326"/>
                <a:gd name="connsiteX26" fmla="*/ 6066914 w 6326724"/>
                <a:gd name="connsiteY26" fmla="*/ 989616 h 6561326"/>
                <a:gd name="connsiteX27" fmla="*/ 5533688 w 6326724"/>
                <a:gd name="connsiteY27" fmla="*/ 647242 h 6561326"/>
                <a:gd name="connsiteX28" fmla="*/ 4933626 w 6326724"/>
                <a:gd name="connsiteY28" fmla="*/ 432262 h 6561326"/>
                <a:gd name="connsiteX29" fmla="*/ 4296873 w 6326724"/>
                <a:gd name="connsiteY29" fmla="*/ 343126 h 6561326"/>
                <a:gd name="connsiteX30" fmla="*/ 3651602 w 6326724"/>
                <a:gd name="connsiteY30" fmla="*/ 365797 h 6561326"/>
                <a:gd name="connsiteX31" fmla="*/ 3018256 w 6326724"/>
                <a:gd name="connsiteY31" fmla="*/ 496666 h 6561326"/>
                <a:gd name="connsiteX32" fmla="*/ 2412429 w 6326724"/>
                <a:gd name="connsiteY32" fmla="*/ 724399 h 6561326"/>
                <a:gd name="connsiteX33" fmla="*/ 1329857 w 6326724"/>
                <a:gd name="connsiteY33" fmla="*/ 1424086 h 6561326"/>
                <a:gd name="connsiteX34" fmla="*/ 887314 w 6326724"/>
                <a:gd name="connsiteY34" fmla="*/ 1891015 h 6561326"/>
                <a:gd name="connsiteX35" fmla="*/ 537420 w 6326724"/>
                <a:gd name="connsiteY35" fmla="*/ 2427245 h 6561326"/>
                <a:gd name="connsiteX36" fmla="*/ 299965 w 6326724"/>
                <a:gd name="connsiteY36" fmla="*/ 3020021 h 6561326"/>
                <a:gd name="connsiteX37" fmla="*/ 213606 w 6326724"/>
                <a:gd name="connsiteY37" fmla="*/ 3651953 h 6561326"/>
                <a:gd name="connsiteX38" fmla="*/ 250036 w 6326724"/>
                <a:gd name="connsiteY38" fmla="*/ 3961352 h 6561326"/>
                <a:gd name="connsiteX39" fmla="*/ 357625 w 6326724"/>
                <a:gd name="connsiteY39" fmla="*/ 4250783 h 6561326"/>
                <a:gd name="connsiteX40" fmla="*/ 432715 w 6326724"/>
                <a:gd name="connsiteY40" fmla="*/ 4387063 h 6561326"/>
                <a:gd name="connsiteX41" fmla="*/ 518943 w 6326724"/>
                <a:gd name="connsiteY41" fmla="*/ 4518962 h 6561326"/>
                <a:gd name="connsiteX42" fmla="*/ 718133 w 6326724"/>
                <a:gd name="connsiteY42" fmla="*/ 4773874 h 6561326"/>
                <a:gd name="connsiteX43" fmla="*/ 933704 w 6326724"/>
                <a:gd name="connsiteY43" fmla="*/ 5030717 h 6561326"/>
                <a:gd name="connsiteX44" fmla="*/ 1040900 w 6326724"/>
                <a:gd name="connsiteY44" fmla="*/ 5164806 h 6561326"/>
                <a:gd name="connsiteX45" fmla="*/ 1092401 w 6326724"/>
                <a:gd name="connsiteY45" fmla="*/ 5230628 h 6561326"/>
                <a:gd name="connsiteX46" fmla="*/ 1142854 w 6326724"/>
                <a:gd name="connsiteY46" fmla="*/ 5293615 h 6561326"/>
                <a:gd name="connsiteX47" fmla="*/ 1576354 w 6326724"/>
                <a:gd name="connsiteY47" fmla="*/ 5759128 h 6561326"/>
                <a:gd name="connsiteX48" fmla="*/ 1806865 w 6326724"/>
                <a:gd name="connsiteY48" fmla="*/ 5968571 h 6561326"/>
                <a:gd name="connsiteX49" fmla="*/ 2048253 w 6326724"/>
                <a:gd name="connsiteY49" fmla="*/ 6161654 h 6561326"/>
                <a:gd name="connsiteX50" fmla="*/ 2587506 w 6326724"/>
                <a:gd name="connsiteY50" fmla="*/ 6467059 h 6561326"/>
                <a:gd name="connsiteX51" fmla="*/ 2889176 w 6326724"/>
                <a:gd name="connsiteY51" fmla="*/ 6553360 h 6561326"/>
                <a:gd name="connsiteX52" fmla="*/ 2929698 w 6326724"/>
                <a:gd name="connsiteY52" fmla="*/ 6561326 h 6561326"/>
                <a:gd name="connsiteX53" fmla="*/ 1816374 w 6326724"/>
                <a:gd name="connsiteY53" fmla="*/ 6561326 h 6561326"/>
                <a:gd name="connsiteX54" fmla="*/ 1787601 w 6326724"/>
                <a:gd name="connsiteY54" fmla="*/ 6545761 h 6561326"/>
                <a:gd name="connsiteX55" fmla="*/ 1225544 w 6326724"/>
                <a:gd name="connsiteY55" fmla="*/ 6094158 h 6561326"/>
                <a:gd name="connsiteX56" fmla="*/ 997654 w 6326724"/>
                <a:gd name="connsiteY56" fmla="*/ 5822374 h 6561326"/>
                <a:gd name="connsiteX57" fmla="*/ 798596 w 6326724"/>
                <a:gd name="connsiteY57" fmla="*/ 5534615 h 6561326"/>
                <a:gd name="connsiteX58" fmla="*/ 752075 w 6326724"/>
                <a:gd name="connsiteY58" fmla="*/ 5461324 h 6561326"/>
                <a:gd name="connsiteX59" fmla="*/ 707650 w 6326724"/>
                <a:gd name="connsiteY59" fmla="*/ 5390221 h 6561326"/>
                <a:gd name="connsiteX60" fmla="*/ 619980 w 6326724"/>
                <a:gd name="connsiteY60" fmla="*/ 5252396 h 6561326"/>
                <a:gd name="connsiteX61" fmla="*/ 438349 w 6326724"/>
                <a:gd name="connsiteY61" fmla="*/ 4970822 h 6561326"/>
                <a:gd name="connsiteX62" fmla="*/ 261044 w 6326724"/>
                <a:gd name="connsiteY62" fmla="*/ 4673145 h 6561326"/>
                <a:gd name="connsiteX63" fmla="*/ 181107 w 6326724"/>
                <a:gd name="connsiteY63" fmla="*/ 4515356 h 6561326"/>
                <a:gd name="connsiteX64" fmla="*/ 113224 w 6326724"/>
                <a:gd name="connsiteY64" fmla="*/ 4350223 h 6561326"/>
                <a:gd name="connsiteX65" fmla="*/ 61199 w 6326724"/>
                <a:gd name="connsiteY65" fmla="*/ 4178908 h 6561326"/>
                <a:gd name="connsiteX66" fmla="*/ 41804 w 6326724"/>
                <a:gd name="connsiteY66" fmla="*/ 4091577 h 6561326"/>
                <a:gd name="connsiteX67" fmla="*/ 33287 w 6326724"/>
                <a:gd name="connsiteY67" fmla="*/ 4047781 h 6561326"/>
                <a:gd name="connsiteX68" fmla="*/ 26209 w 6326724"/>
                <a:gd name="connsiteY68" fmla="*/ 4003858 h 6561326"/>
                <a:gd name="connsiteX69" fmla="*/ 0 w 6326724"/>
                <a:gd name="connsiteY69" fmla="*/ 3651953 h 6561326"/>
                <a:gd name="connsiteX70" fmla="*/ 72731 w 6326724"/>
                <a:gd name="connsiteY70" fmla="*/ 2966307 h 6561326"/>
                <a:gd name="connsiteX71" fmla="*/ 291316 w 6326724"/>
                <a:gd name="connsiteY71" fmla="*/ 2309385 h 6561326"/>
                <a:gd name="connsiteX72" fmla="*/ 1110878 w 6326724"/>
                <a:gd name="connsiteY72" fmla="*/ 1193776 h 6561326"/>
                <a:gd name="connsiteX73" fmla="*/ 1654327 w 6326724"/>
                <a:gd name="connsiteY73" fmla="*/ 756730 h 6561326"/>
                <a:gd name="connsiteX74" fmla="*/ 2261727 w 6326724"/>
                <a:gd name="connsiteY74" fmla="*/ 409720 h 6561326"/>
                <a:gd name="connsiteX75" fmla="*/ 3610060 w 6326724"/>
                <a:gd name="connsiteY75" fmla="*/ 27032 h 6561326"/>
                <a:gd name="connsiteX76" fmla="*/ 4139342 w 6326724"/>
                <a:gd name="connsiteY76" fmla="*/ 440 h 6561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6326724" h="6561326">
                  <a:moveTo>
                    <a:pt x="6326724" y="5020808"/>
                  </a:moveTo>
                  <a:lnTo>
                    <a:pt x="6326724" y="5698632"/>
                  </a:lnTo>
                  <a:lnTo>
                    <a:pt x="6067438" y="5902509"/>
                  </a:lnTo>
                  <a:cubicBezTo>
                    <a:pt x="5977868" y="5970407"/>
                    <a:pt x="5888364" y="6036453"/>
                    <a:pt x="5799974" y="6102017"/>
                  </a:cubicBezTo>
                  <a:lnTo>
                    <a:pt x="5665258" y="6202100"/>
                  </a:lnTo>
                  <a:cubicBezTo>
                    <a:pt x="5619654" y="6235719"/>
                    <a:pt x="5573656" y="6269596"/>
                    <a:pt x="5526873" y="6302828"/>
                  </a:cubicBezTo>
                  <a:cubicBezTo>
                    <a:pt x="5480220" y="6336189"/>
                    <a:pt x="5433044" y="6369423"/>
                    <a:pt x="5385080" y="6402268"/>
                  </a:cubicBezTo>
                  <a:cubicBezTo>
                    <a:pt x="5336988" y="6434857"/>
                    <a:pt x="5288500" y="6467187"/>
                    <a:pt x="5238833" y="6498875"/>
                  </a:cubicBezTo>
                  <a:lnTo>
                    <a:pt x="5138040" y="6561326"/>
                  </a:lnTo>
                  <a:lnTo>
                    <a:pt x="3946072" y="6561326"/>
                  </a:lnTo>
                  <a:lnTo>
                    <a:pt x="3976009" y="6555242"/>
                  </a:lnTo>
                  <a:cubicBezTo>
                    <a:pt x="4123712" y="6519227"/>
                    <a:pt x="4266863" y="6466383"/>
                    <a:pt x="4404855" y="6399048"/>
                  </a:cubicBezTo>
                  <a:cubicBezTo>
                    <a:pt x="4589500" y="6310299"/>
                    <a:pt x="4765232" y="6196690"/>
                    <a:pt x="4938868" y="6072132"/>
                  </a:cubicBezTo>
                  <a:cubicBezTo>
                    <a:pt x="4982245" y="6041089"/>
                    <a:pt x="5025359" y="6008630"/>
                    <a:pt x="5068342" y="5976042"/>
                  </a:cubicBezTo>
                  <a:cubicBezTo>
                    <a:pt x="5111588" y="5943453"/>
                    <a:pt x="5154702" y="5910349"/>
                    <a:pt x="5197816" y="5876730"/>
                  </a:cubicBezTo>
                  <a:lnTo>
                    <a:pt x="5460039" y="5670637"/>
                  </a:lnTo>
                  <a:cubicBezTo>
                    <a:pt x="5639966" y="5530365"/>
                    <a:pt x="5821596" y="5399753"/>
                    <a:pt x="5999033" y="5271718"/>
                  </a:cubicBezTo>
                  <a:cubicBezTo>
                    <a:pt x="6087686" y="5207700"/>
                    <a:pt x="6174667" y="5143360"/>
                    <a:pt x="6258766" y="5077603"/>
                  </a:cubicBezTo>
                  <a:close/>
                  <a:moveTo>
                    <a:pt x="4139342" y="440"/>
                  </a:moveTo>
                  <a:cubicBezTo>
                    <a:pt x="4198237" y="1301"/>
                    <a:pt x="4257068" y="3427"/>
                    <a:pt x="4315744" y="6808"/>
                  </a:cubicBezTo>
                  <a:cubicBezTo>
                    <a:pt x="4550841" y="20849"/>
                    <a:pt x="4785806" y="55240"/>
                    <a:pt x="5015400" y="113591"/>
                  </a:cubicBezTo>
                  <a:cubicBezTo>
                    <a:pt x="5244992" y="171812"/>
                    <a:pt x="5469212" y="254249"/>
                    <a:pt x="5681114" y="361418"/>
                  </a:cubicBezTo>
                  <a:cubicBezTo>
                    <a:pt x="5892754" y="468586"/>
                    <a:pt x="6093124" y="599584"/>
                    <a:pt x="6270952" y="755441"/>
                  </a:cubicBezTo>
                  <a:lnTo>
                    <a:pt x="6326724" y="807432"/>
                  </a:lnTo>
                  <a:lnTo>
                    <a:pt x="6326724" y="1231565"/>
                  </a:lnTo>
                  <a:lnTo>
                    <a:pt x="6302093" y="1203002"/>
                  </a:lnTo>
                  <a:cubicBezTo>
                    <a:pt x="6227937" y="1127247"/>
                    <a:pt x="6149211" y="1056081"/>
                    <a:pt x="6066914" y="989616"/>
                  </a:cubicBezTo>
                  <a:cubicBezTo>
                    <a:pt x="5902714" y="856299"/>
                    <a:pt x="5724360" y="740371"/>
                    <a:pt x="5533688" y="647242"/>
                  </a:cubicBezTo>
                  <a:cubicBezTo>
                    <a:pt x="5343146" y="553857"/>
                    <a:pt x="5141466" y="482239"/>
                    <a:pt x="4933626" y="432262"/>
                  </a:cubicBezTo>
                  <a:cubicBezTo>
                    <a:pt x="4725788" y="382156"/>
                    <a:pt x="4512182" y="353303"/>
                    <a:pt x="4296873" y="343126"/>
                  </a:cubicBezTo>
                  <a:cubicBezTo>
                    <a:pt x="4081172" y="332435"/>
                    <a:pt x="3865732" y="339520"/>
                    <a:pt x="3651602" y="365797"/>
                  </a:cubicBezTo>
                  <a:cubicBezTo>
                    <a:pt x="3437604" y="392202"/>
                    <a:pt x="3225572" y="436384"/>
                    <a:pt x="3018256" y="496666"/>
                  </a:cubicBezTo>
                  <a:cubicBezTo>
                    <a:pt x="2810809" y="556691"/>
                    <a:pt x="2608474" y="634362"/>
                    <a:pt x="2412429" y="724399"/>
                  </a:cubicBezTo>
                  <a:cubicBezTo>
                    <a:pt x="2019160" y="902541"/>
                    <a:pt x="1651969" y="1138775"/>
                    <a:pt x="1329857" y="1424086"/>
                  </a:cubicBezTo>
                  <a:cubicBezTo>
                    <a:pt x="1169326" y="1567192"/>
                    <a:pt x="1020588" y="1723307"/>
                    <a:pt x="887314" y="1891015"/>
                  </a:cubicBezTo>
                  <a:cubicBezTo>
                    <a:pt x="753778" y="2058466"/>
                    <a:pt x="635967" y="2238026"/>
                    <a:pt x="537420" y="2427245"/>
                  </a:cubicBezTo>
                  <a:cubicBezTo>
                    <a:pt x="438874" y="2616335"/>
                    <a:pt x="356839" y="2814313"/>
                    <a:pt x="299965" y="3020021"/>
                  </a:cubicBezTo>
                  <a:cubicBezTo>
                    <a:pt x="242961" y="3225212"/>
                    <a:pt x="213474" y="3438518"/>
                    <a:pt x="213606" y="3651953"/>
                  </a:cubicBezTo>
                  <a:cubicBezTo>
                    <a:pt x="214785" y="3756804"/>
                    <a:pt x="225269" y="3860881"/>
                    <a:pt x="250036" y="3961352"/>
                  </a:cubicBezTo>
                  <a:cubicBezTo>
                    <a:pt x="274412" y="4061950"/>
                    <a:pt x="312284" y="4158171"/>
                    <a:pt x="357625" y="4250783"/>
                  </a:cubicBezTo>
                  <a:cubicBezTo>
                    <a:pt x="380558" y="4297025"/>
                    <a:pt x="405982" y="4342366"/>
                    <a:pt x="432715" y="4387063"/>
                  </a:cubicBezTo>
                  <a:cubicBezTo>
                    <a:pt x="459841" y="4431630"/>
                    <a:pt x="488803" y="4475554"/>
                    <a:pt x="518943" y="4518962"/>
                  </a:cubicBezTo>
                  <a:cubicBezTo>
                    <a:pt x="580011" y="4605521"/>
                    <a:pt x="647893" y="4689504"/>
                    <a:pt x="718133" y="4773874"/>
                  </a:cubicBezTo>
                  <a:cubicBezTo>
                    <a:pt x="788374" y="4858372"/>
                    <a:pt x="861760" y="4942871"/>
                    <a:pt x="933704" y="5030717"/>
                  </a:cubicBezTo>
                  <a:cubicBezTo>
                    <a:pt x="969742" y="5074512"/>
                    <a:pt x="1005387" y="5119337"/>
                    <a:pt x="1040900" y="5164806"/>
                  </a:cubicBezTo>
                  <a:lnTo>
                    <a:pt x="1092401" y="5230628"/>
                  </a:lnTo>
                  <a:cubicBezTo>
                    <a:pt x="1109306" y="5251624"/>
                    <a:pt x="1125425" y="5273135"/>
                    <a:pt x="1142854" y="5293615"/>
                  </a:cubicBezTo>
                  <a:cubicBezTo>
                    <a:pt x="1278880" y="5460293"/>
                    <a:pt x="1426438" y="5613704"/>
                    <a:pt x="1576354" y="5759128"/>
                  </a:cubicBezTo>
                  <a:cubicBezTo>
                    <a:pt x="1651706" y="5831519"/>
                    <a:pt x="1728368" y="5901461"/>
                    <a:pt x="1806865" y="5968571"/>
                  </a:cubicBezTo>
                  <a:cubicBezTo>
                    <a:pt x="1885362" y="6035680"/>
                    <a:pt x="1965299" y="6100599"/>
                    <a:pt x="2048253" y="6161654"/>
                  </a:cubicBezTo>
                  <a:cubicBezTo>
                    <a:pt x="2213502" y="6284022"/>
                    <a:pt x="2391724" y="6393380"/>
                    <a:pt x="2587506" y="6467059"/>
                  </a:cubicBezTo>
                  <a:cubicBezTo>
                    <a:pt x="2685137" y="6503898"/>
                    <a:pt x="2786304" y="6532106"/>
                    <a:pt x="2889176" y="6553360"/>
                  </a:cubicBezTo>
                  <a:lnTo>
                    <a:pt x="2929698" y="6561326"/>
                  </a:lnTo>
                  <a:lnTo>
                    <a:pt x="1816374" y="6561326"/>
                  </a:lnTo>
                  <a:lnTo>
                    <a:pt x="1787601" y="6545761"/>
                  </a:lnTo>
                  <a:cubicBezTo>
                    <a:pt x="1577272" y="6422749"/>
                    <a:pt x="1389483" y="6266761"/>
                    <a:pt x="1225544" y="6094158"/>
                  </a:cubicBezTo>
                  <a:cubicBezTo>
                    <a:pt x="1143116" y="6007986"/>
                    <a:pt x="1068158" y="5916274"/>
                    <a:pt x="997654" y="5822374"/>
                  </a:cubicBezTo>
                  <a:cubicBezTo>
                    <a:pt x="927546" y="5728086"/>
                    <a:pt x="860842" y="5632381"/>
                    <a:pt x="798596" y="5534615"/>
                  </a:cubicBezTo>
                  <a:cubicBezTo>
                    <a:pt x="782608" y="5510399"/>
                    <a:pt x="767537" y="5485797"/>
                    <a:pt x="752075" y="5461324"/>
                  </a:cubicBezTo>
                  <a:lnTo>
                    <a:pt x="707650" y="5390221"/>
                  </a:lnTo>
                  <a:cubicBezTo>
                    <a:pt x="679213" y="5344237"/>
                    <a:pt x="649728" y="5298638"/>
                    <a:pt x="619980" y="5252396"/>
                  </a:cubicBezTo>
                  <a:lnTo>
                    <a:pt x="438349" y="4970822"/>
                  </a:lnTo>
                  <a:cubicBezTo>
                    <a:pt x="377413" y="4874860"/>
                    <a:pt x="317263" y="4776064"/>
                    <a:pt x="261044" y="4673145"/>
                  </a:cubicBezTo>
                  <a:cubicBezTo>
                    <a:pt x="233000" y="4621622"/>
                    <a:pt x="205874" y="4569197"/>
                    <a:pt x="181107" y="4515356"/>
                  </a:cubicBezTo>
                  <a:cubicBezTo>
                    <a:pt x="156470" y="4461385"/>
                    <a:pt x="133537" y="4406385"/>
                    <a:pt x="113224" y="4350223"/>
                  </a:cubicBezTo>
                  <a:cubicBezTo>
                    <a:pt x="93305" y="4293934"/>
                    <a:pt x="75614" y="4236872"/>
                    <a:pt x="61199" y="4178908"/>
                  </a:cubicBezTo>
                  <a:cubicBezTo>
                    <a:pt x="54385" y="4149927"/>
                    <a:pt x="47440" y="4120815"/>
                    <a:pt x="41804" y="4091577"/>
                  </a:cubicBezTo>
                  <a:lnTo>
                    <a:pt x="33287" y="4047781"/>
                  </a:lnTo>
                  <a:lnTo>
                    <a:pt x="26209" y="4003858"/>
                  </a:lnTo>
                  <a:cubicBezTo>
                    <a:pt x="7732" y="3886643"/>
                    <a:pt x="0" y="3768783"/>
                    <a:pt x="0" y="3651953"/>
                  </a:cubicBezTo>
                  <a:cubicBezTo>
                    <a:pt x="524" y="3422031"/>
                    <a:pt x="25030" y="3192109"/>
                    <a:pt x="72731" y="2966307"/>
                  </a:cubicBezTo>
                  <a:cubicBezTo>
                    <a:pt x="120301" y="2740634"/>
                    <a:pt x="193163" y="2519343"/>
                    <a:pt x="291316" y="2309385"/>
                  </a:cubicBezTo>
                  <a:cubicBezTo>
                    <a:pt x="488540" y="1889469"/>
                    <a:pt x="774352" y="1513736"/>
                    <a:pt x="1110878" y="1193776"/>
                  </a:cubicBezTo>
                  <a:cubicBezTo>
                    <a:pt x="1279535" y="1033797"/>
                    <a:pt x="1461821" y="887856"/>
                    <a:pt x="1654327" y="756730"/>
                  </a:cubicBezTo>
                  <a:cubicBezTo>
                    <a:pt x="1847096" y="625732"/>
                    <a:pt x="2049956" y="509031"/>
                    <a:pt x="2261727" y="409720"/>
                  </a:cubicBezTo>
                  <a:cubicBezTo>
                    <a:pt x="2685792" y="212515"/>
                    <a:pt x="3142357" y="82162"/>
                    <a:pt x="3610060" y="27032"/>
                  </a:cubicBezTo>
                  <a:cubicBezTo>
                    <a:pt x="3785399" y="6647"/>
                    <a:pt x="3962657" y="-2144"/>
                    <a:pt x="4139342" y="44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3" name="Freeform: Shape 1052">
              <a:extLst>
                <a:ext uri="{FF2B5EF4-FFF2-40B4-BE49-F238E27FC236}">
                  <a16:creationId xmlns:a16="http://schemas.microsoft.com/office/drawing/2014/main" id="{BC4A6C98-F96E-4587-B01F-A9B01BBFAD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1866928 h 6521594"/>
                <a:gd name="connsiteX4" fmla="*/ 6212358 w 6321679"/>
                <a:gd name="connsiteY4" fmla="*/ 1689281 h 6521594"/>
                <a:gd name="connsiteX5" fmla="*/ 6049880 w 6321679"/>
                <a:gd name="connsiteY5" fmla="*/ 1477173 h 6521594"/>
                <a:gd name="connsiteX6" fmla="*/ 5248663 w 6321679"/>
                <a:gd name="connsiteY6" fmla="*/ 869327 h 6521594"/>
                <a:gd name="connsiteX7" fmla="*/ 4150102 w 6321679"/>
                <a:gd name="connsiteY7" fmla="*/ 644042 h 6521594"/>
                <a:gd name="connsiteX8" fmla="*/ 2867946 w 6321679"/>
                <a:gd name="connsiteY8" fmla="*/ 886459 h 6521594"/>
                <a:gd name="connsiteX9" fmla="*/ 1728892 w 6321679"/>
                <a:gd name="connsiteY9" fmla="*/ 1552397 h 6521594"/>
                <a:gd name="connsiteX10" fmla="*/ 941043 w 6321679"/>
                <a:gd name="connsiteY10" fmla="*/ 2512664 h 6521594"/>
                <a:gd name="connsiteX11" fmla="*/ 655362 w 6321679"/>
                <a:gd name="connsiteY11" fmla="*/ 3630204 h 6521594"/>
                <a:gd name="connsiteX12" fmla="*/ 1128177 w 6321679"/>
                <a:gd name="connsiteY12" fmla="*/ 4667883 h 6521594"/>
                <a:gd name="connsiteX13" fmla="*/ 1366419 w 6321679"/>
                <a:gd name="connsiteY13" fmla="*/ 4997246 h 6521594"/>
                <a:gd name="connsiteX14" fmla="*/ 3601937 w 6321679"/>
                <a:gd name="connsiteY14" fmla="*/ 6284685 h 6521594"/>
                <a:gd name="connsiteX15" fmla="*/ 5298985 w 6321679"/>
                <a:gd name="connsiteY15" fmla="*/ 5492643 h 6521594"/>
                <a:gd name="connsiteX16" fmla="*/ 5505513 w 6321679"/>
                <a:gd name="connsiteY16" fmla="*/ 5335367 h 6521594"/>
                <a:gd name="connsiteX17" fmla="*/ 6252618 w 6321679"/>
                <a:gd name="connsiteY17" fmla="*/ 4722492 h 6521594"/>
                <a:gd name="connsiteX18" fmla="*/ 6321679 w 6321679"/>
                <a:gd name="connsiteY18" fmla="*/ 4651477 h 6521594"/>
                <a:gd name="connsiteX19" fmla="*/ 6321679 w 6321679"/>
                <a:gd name="connsiteY19" fmla="*/ 5523097 h 6521594"/>
                <a:gd name="connsiteX20" fmla="*/ 6024428 w 6321679"/>
                <a:gd name="connsiteY20" fmla="*/ 5754969 h 6521594"/>
                <a:gd name="connsiteX21" fmla="*/ 5702345 w 6321679"/>
                <a:gd name="connsiteY21" fmla="*/ 6000018 h 6521594"/>
                <a:gd name="connsiteX22" fmla="*/ 4988380 w 6321679"/>
                <a:gd name="connsiteY22" fmla="*/ 6506549 h 6521594"/>
                <a:gd name="connsiteX23" fmla="*/ 4961490 w 6321679"/>
                <a:gd name="connsiteY23" fmla="*/ 6521594 h 6521594"/>
                <a:gd name="connsiteX24" fmla="*/ 2011326 w 6321679"/>
                <a:gd name="connsiteY24" fmla="*/ 6521594 h 6521594"/>
                <a:gd name="connsiteX25" fmla="*/ 1982893 w 6321679"/>
                <a:gd name="connsiteY25" fmla="*/ 6505768 h 6521594"/>
                <a:gd name="connsiteX26" fmla="*/ 824149 w 6321679"/>
                <a:gd name="connsiteY26" fmla="*/ 5358682 h 6521594"/>
                <a:gd name="connsiteX27" fmla="*/ 0 w 6321679"/>
                <a:gd name="connsiteY27" fmla="*/ 3630075 h 6521594"/>
                <a:gd name="connsiteX28" fmla="*/ 4150102 w 6321679"/>
                <a:gd name="connsiteY28"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321679" h="6521594">
                  <a:moveTo>
                    <a:pt x="4150102" y="0"/>
                  </a:moveTo>
                  <a:cubicBezTo>
                    <a:pt x="4918148" y="0"/>
                    <a:pt x="5569597" y="228540"/>
                    <a:pt x="6083891" y="619943"/>
                  </a:cubicBezTo>
                  <a:lnTo>
                    <a:pt x="6321679" y="822247"/>
                  </a:lnTo>
                  <a:lnTo>
                    <a:pt x="6321679" y="1866928"/>
                  </a:lnTo>
                  <a:lnTo>
                    <a:pt x="6212358" y="1689281"/>
                  </a:lnTo>
                  <a:cubicBezTo>
                    <a:pt x="6161484" y="1615222"/>
                    <a:pt x="6107295" y="1544427"/>
                    <a:pt x="6049880" y="1477173"/>
                  </a:cubicBezTo>
                  <a:cubicBezTo>
                    <a:pt x="5825135" y="1214018"/>
                    <a:pt x="5555573" y="1009470"/>
                    <a:pt x="5248663" y="869327"/>
                  </a:cubicBezTo>
                  <a:cubicBezTo>
                    <a:pt x="4921178" y="719909"/>
                    <a:pt x="4551627" y="644042"/>
                    <a:pt x="4150102" y="644042"/>
                  </a:cubicBezTo>
                  <a:cubicBezTo>
                    <a:pt x="3724203" y="644042"/>
                    <a:pt x="3292799" y="725448"/>
                    <a:pt x="2867946" y="886459"/>
                  </a:cubicBezTo>
                  <a:cubicBezTo>
                    <a:pt x="2454234" y="1042832"/>
                    <a:pt x="2060440" y="1273141"/>
                    <a:pt x="1728892" y="1552397"/>
                  </a:cubicBezTo>
                  <a:cubicBezTo>
                    <a:pt x="1391580" y="1836419"/>
                    <a:pt x="1126473" y="2159600"/>
                    <a:pt x="941043" y="2512664"/>
                  </a:cubicBezTo>
                  <a:cubicBezTo>
                    <a:pt x="751551" y="2873583"/>
                    <a:pt x="655362" y="3249575"/>
                    <a:pt x="655362" y="3630204"/>
                  </a:cubicBezTo>
                  <a:cubicBezTo>
                    <a:pt x="655362" y="4013537"/>
                    <a:pt x="808817" y="4237405"/>
                    <a:pt x="1128177" y="4667883"/>
                  </a:cubicBezTo>
                  <a:cubicBezTo>
                    <a:pt x="1205232" y="4771702"/>
                    <a:pt x="1284908" y="4879129"/>
                    <a:pt x="1366419" y="4997246"/>
                  </a:cubicBezTo>
                  <a:cubicBezTo>
                    <a:pt x="1989282" y="5899677"/>
                    <a:pt x="2657880" y="6284685"/>
                    <a:pt x="3601937" y="6284685"/>
                  </a:cubicBezTo>
                  <a:cubicBezTo>
                    <a:pt x="4221523" y="6284685"/>
                    <a:pt x="4676122" y="5971036"/>
                    <a:pt x="5298985" y="5492643"/>
                  </a:cubicBezTo>
                  <a:cubicBezTo>
                    <a:pt x="5368571" y="5439187"/>
                    <a:pt x="5438156" y="5386375"/>
                    <a:pt x="5505513" y="5335367"/>
                  </a:cubicBezTo>
                  <a:cubicBezTo>
                    <a:pt x="5779335" y="5127761"/>
                    <a:pt x="6041730" y="4928776"/>
                    <a:pt x="6252618" y="4722492"/>
                  </a:cubicBezTo>
                  <a:lnTo>
                    <a:pt x="6321679" y="4651477"/>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4" name="Freeform: Shape 1053">
              <a:extLst>
                <a:ext uri="{FF2B5EF4-FFF2-40B4-BE49-F238E27FC236}">
                  <a16:creationId xmlns:a16="http://schemas.microsoft.com/office/drawing/2014/main" id="{A66409EC-9CC3-482A-A4A5-54ED092B3F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2150195 h 6521594"/>
                <a:gd name="connsiteX4" fmla="*/ 6241288 w 6321679"/>
                <a:gd name="connsiteY4" fmla="*/ 1985338 h 6521594"/>
                <a:gd name="connsiteX5" fmla="*/ 5949367 w 6321679"/>
                <a:gd name="connsiteY5" fmla="*/ 1559997 h 6521594"/>
                <a:gd name="connsiteX6" fmla="*/ 5193362 w 6321679"/>
                <a:gd name="connsiteY6" fmla="*/ 986156 h 6521594"/>
                <a:gd name="connsiteX7" fmla="*/ 4150102 w 6321679"/>
                <a:gd name="connsiteY7" fmla="*/ 772850 h 6521594"/>
                <a:gd name="connsiteX8" fmla="*/ 2914861 w 6321679"/>
                <a:gd name="connsiteY8" fmla="*/ 1006637 h 6521594"/>
                <a:gd name="connsiteX9" fmla="*/ 1814073 w 6321679"/>
                <a:gd name="connsiteY9" fmla="*/ 1650163 h 6521594"/>
                <a:gd name="connsiteX10" fmla="*/ 1057412 w 6321679"/>
                <a:gd name="connsiteY10" fmla="*/ 2571657 h 6521594"/>
                <a:gd name="connsiteX11" fmla="*/ 786277 w 6321679"/>
                <a:gd name="connsiteY11" fmla="*/ 3630204 h 6521594"/>
                <a:gd name="connsiteX12" fmla="*/ 1233931 w 6321679"/>
                <a:gd name="connsiteY12" fmla="*/ 4592016 h 6521594"/>
                <a:gd name="connsiteX13" fmla="*/ 1474795 w 6321679"/>
                <a:gd name="connsiteY13" fmla="*/ 4924985 h 6521594"/>
                <a:gd name="connsiteX14" fmla="*/ 2393691 w 6321679"/>
                <a:gd name="connsiteY14" fmla="*/ 5846995 h 6521594"/>
                <a:gd name="connsiteX15" fmla="*/ 3601805 w 6321679"/>
                <a:gd name="connsiteY15" fmla="*/ 6155876 h 6521594"/>
                <a:gd name="connsiteX16" fmla="*/ 4378909 w 6321679"/>
                <a:gd name="connsiteY16" fmla="*/ 5959186 h 6521594"/>
                <a:gd name="connsiteX17" fmla="*/ 5218129 w 6321679"/>
                <a:gd name="connsiteY17" fmla="*/ 5391271 h 6521594"/>
                <a:gd name="connsiteX18" fmla="*/ 5425313 w 6321679"/>
                <a:gd name="connsiteY18" fmla="*/ 5233481 h 6521594"/>
                <a:gd name="connsiteX19" fmla="*/ 6254366 w 6321679"/>
                <a:gd name="connsiteY19" fmla="*/ 4534301 h 6521594"/>
                <a:gd name="connsiteX20" fmla="*/ 6321679 w 6321679"/>
                <a:gd name="connsiteY20" fmla="*/ 4456641 h 6521594"/>
                <a:gd name="connsiteX21" fmla="*/ 6321679 w 6321679"/>
                <a:gd name="connsiteY21" fmla="*/ 5523097 h 6521594"/>
                <a:gd name="connsiteX22" fmla="*/ 6024428 w 6321679"/>
                <a:gd name="connsiteY22" fmla="*/ 5754969 h 6521594"/>
                <a:gd name="connsiteX23" fmla="*/ 5702345 w 6321679"/>
                <a:gd name="connsiteY23" fmla="*/ 6000018 h 6521594"/>
                <a:gd name="connsiteX24" fmla="*/ 4988380 w 6321679"/>
                <a:gd name="connsiteY24" fmla="*/ 6506549 h 6521594"/>
                <a:gd name="connsiteX25" fmla="*/ 4961490 w 6321679"/>
                <a:gd name="connsiteY25" fmla="*/ 6521594 h 6521594"/>
                <a:gd name="connsiteX26" fmla="*/ 2011326 w 6321679"/>
                <a:gd name="connsiteY26" fmla="*/ 6521594 h 6521594"/>
                <a:gd name="connsiteX27" fmla="*/ 1982893 w 6321679"/>
                <a:gd name="connsiteY27" fmla="*/ 6505768 h 6521594"/>
                <a:gd name="connsiteX28" fmla="*/ 824149 w 6321679"/>
                <a:gd name="connsiteY28" fmla="*/ 5358682 h 6521594"/>
                <a:gd name="connsiteX29" fmla="*/ 0 w 6321679"/>
                <a:gd name="connsiteY29" fmla="*/ 3630075 h 6521594"/>
                <a:gd name="connsiteX30" fmla="*/ 4150102 w 6321679"/>
                <a:gd name="connsiteY30"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321679" h="6521594">
                  <a:moveTo>
                    <a:pt x="4150102" y="0"/>
                  </a:moveTo>
                  <a:cubicBezTo>
                    <a:pt x="4918148" y="0"/>
                    <a:pt x="5569597" y="228540"/>
                    <a:pt x="6083891" y="619943"/>
                  </a:cubicBezTo>
                  <a:lnTo>
                    <a:pt x="6321679" y="822247"/>
                  </a:lnTo>
                  <a:lnTo>
                    <a:pt x="6321679" y="2150195"/>
                  </a:lnTo>
                  <a:lnTo>
                    <a:pt x="6241288" y="1985338"/>
                  </a:lnTo>
                  <a:cubicBezTo>
                    <a:pt x="6156788" y="1831195"/>
                    <a:pt x="6059249" y="1688709"/>
                    <a:pt x="5949367" y="1559997"/>
                  </a:cubicBezTo>
                  <a:cubicBezTo>
                    <a:pt x="5737073" y="1311397"/>
                    <a:pt x="5482843" y="1118314"/>
                    <a:pt x="5193362" y="986156"/>
                  </a:cubicBezTo>
                  <a:cubicBezTo>
                    <a:pt x="4883437" y="844596"/>
                    <a:pt x="4532365" y="772850"/>
                    <a:pt x="4150102" y="772850"/>
                  </a:cubicBezTo>
                  <a:cubicBezTo>
                    <a:pt x="3746218" y="772850"/>
                    <a:pt x="3319008" y="853613"/>
                    <a:pt x="2914861" y="1006637"/>
                  </a:cubicBezTo>
                  <a:cubicBezTo>
                    <a:pt x="2515039" y="1157857"/>
                    <a:pt x="2134350" y="1380438"/>
                    <a:pt x="1814073" y="1650163"/>
                  </a:cubicBezTo>
                  <a:cubicBezTo>
                    <a:pt x="1494190" y="1919502"/>
                    <a:pt x="1232622" y="2238173"/>
                    <a:pt x="1057412" y="2571657"/>
                  </a:cubicBezTo>
                  <a:cubicBezTo>
                    <a:pt x="877486" y="2914158"/>
                    <a:pt x="786277" y="3270313"/>
                    <a:pt x="786277" y="3630204"/>
                  </a:cubicBezTo>
                  <a:cubicBezTo>
                    <a:pt x="786277" y="3974121"/>
                    <a:pt x="923483" y="4173646"/>
                    <a:pt x="1233931" y="4592016"/>
                  </a:cubicBezTo>
                  <a:cubicBezTo>
                    <a:pt x="1311641" y="4696736"/>
                    <a:pt x="1391972" y="4805064"/>
                    <a:pt x="1474795" y="4924985"/>
                  </a:cubicBezTo>
                  <a:cubicBezTo>
                    <a:pt x="1767682" y="5349278"/>
                    <a:pt x="2068172" y="5650948"/>
                    <a:pt x="2393691" y="5846995"/>
                  </a:cubicBezTo>
                  <a:cubicBezTo>
                    <a:pt x="2738735" y="6054891"/>
                    <a:pt x="3133971" y="6155876"/>
                    <a:pt x="3601805" y="6155876"/>
                  </a:cubicBezTo>
                  <a:cubicBezTo>
                    <a:pt x="3867305" y="6155876"/>
                    <a:pt x="4114196" y="6093405"/>
                    <a:pt x="4378909" y="5959186"/>
                  </a:cubicBezTo>
                  <a:cubicBezTo>
                    <a:pt x="4650699" y="5821362"/>
                    <a:pt x="4919737" y="5620421"/>
                    <a:pt x="5218129" y="5391271"/>
                  </a:cubicBezTo>
                  <a:cubicBezTo>
                    <a:pt x="5288107" y="5337558"/>
                    <a:pt x="5357824" y="5284617"/>
                    <a:pt x="5425313" y="5233481"/>
                  </a:cubicBezTo>
                  <a:cubicBezTo>
                    <a:pt x="5739037" y="4995556"/>
                    <a:pt x="6037512" y="4769168"/>
                    <a:pt x="6254366" y="4534301"/>
                  </a:cubicBezTo>
                  <a:lnTo>
                    <a:pt x="6321679" y="4456641"/>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028" name="Picture 4">
            <a:extLst>
              <a:ext uri="{FF2B5EF4-FFF2-40B4-BE49-F238E27FC236}">
                <a16:creationId xmlns:a16="http://schemas.microsoft.com/office/drawing/2014/main" id="{CBD0DE0B-AD0A-996D-79EB-C19F5B68B4E7}"/>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708392" y="2337435"/>
            <a:ext cx="4142232" cy="31066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02553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pic>
        <p:nvPicPr>
          <p:cNvPr id="2050" name="Picture 2" descr="Mental health concept Mental health concept. Man with heart in hands and woman with watering can near abstract silhouette of head with plants. Psychological help and support, mindfulness. Cartoon flat vector illustration mental health stock illustrations">
            <a:extLst>
              <a:ext uri="{FF2B5EF4-FFF2-40B4-BE49-F238E27FC236}">
                <a16:creationId xmlns:a16="http://schemas.microsoft.com/office/drawing/2014/main" id="{BB0C54F1-5F65-7555-EAFC-599ADD7DF73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60974" y="3124200"/>
            <a:ext cx="4731026" cy="37338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424F1C82-8590-0299-FDAA-1A4D4A9A1ADC}"/>
              </a:ext>
            </a:extLst>
          </p:cNvPr>
          <p:cNvSpPr txBox="1"/>
          <p:nvPr/>
        </p:nvSpPr>
        <p:spPr>
          <a:xfrm>
            <a:off x="2933648" y="225099"/>
            <a:ext cx="8919086" cy="3539430"/>
          </a:xfrm>
          <a:prstGeom prst="rect">
            <a:avLst/>
          </a:prstGeom>
          <a:noFill/>
        </p:spPr>
        <p:txBody>
          <a:bodyPr wrap="square" rtlCol="0">
            <a:spAutoFit/>
          </a:bodyPr>
          <a:lstStyle/>
          <a:p>
            <a:r>
              <a:rPr lang="en-US" sz="1800" dirty="0">
                <a:effectLst/>
                <a:latin typeface="Arial" panose="020B0604020202020204" pitchFamily="34" charset="0"/>
                <a:ea typeface="Arial" panose="020B0604020202020204" pitchFamily="34" charset="0"/>
              </a:rPr>
              <a:t>Mental Health and Substance Use Disorders are important drivers for our community and community public health. The U.S. Department of Health and Human Services can use the information to help spread awareness, increase services where needed, and potentially help reduce the suicide rate in the U.S. It is a topic that we can break the stigma about if we educate ourselves and others with data.</a:t>
            </a:r>
          </a:p>
          <a:p>
            <a:endParaRPr lang="en-US" sz="800" dirty="0">
              <a:latin typeface="Arial" panose="020B0604020202020204" pitchFamily="34" charset="0"/>
              <a:ea typeface="Arial" panose="020B0604020202020204" pitchFamily="34" charset="0"/>
            </a:endParaRPr>
          </a:p>
          <a:p>
            <a:r>
              <a:rPr lang="en-US" sz="1800" dirty="0">
                <a:effectLst/>
                <a:latin typeface="Arial" panose="020B0604020202020204" pitchFamily="34" charset="0"/>
                <a:ea typeface="Arial" panose="020B0604020202020204" pitchFamily="34" charset="0"/>
              </a:rPr>
              <a:t>There are many other reasons someone would be interested in the data. </a:t>
            </a:r>
          </a:p>
          <a:p>
            <a:pPr marL="285750" indent="-285750">
              <a:buFontTx/>
              <a:buChar char="-"/>
            </a:pPr>
            <a:r>
              <a:rPr lang="en-US" dirty="0">
                <a:latin typeface="Arial" panose="020B0604020202020204" pitchFamily="34" charset="0"/>
                <a:ea typeface="Arial" panose="020B0604020202020204" pitchFamily="34" charset="0"/>
              </a:rPr>
              <a:t>considering a </a:t>
            </a:r>
            <a:r>
              <a:rPr lang="en-US" sz="1800" dirty="0">
                <a:effectLst/>
                <a:latin typeface="Arial" panose="020B0604020202020204" pitchFamily="34" charset="0"/>
                <a:ea typeface="Arial" panose="020B0604020202020204" pitchFamily="34" charset="0"/>
              </a:rPr>
              <a:t>relocation and wanting to know about mental health in different locations</a:t>
            </a:r>
          </a:p>
          <a:p>
            <a:pPr marL="285750" indent="-285750">
              <a:buFontTx/>
              <a:buChar char="-"/>
            </a:pPr>
            <a:r>
              <a:rPr lang="en-US" dirty="0">
                <a:latin typeface="Arial" panose="020B0604020202020204" pitchFamily="34" charset="0"/>
                <a:ea typeface="Arial" panose="020B0604020202020204" pitchFamily="34" charset="0"/>
              </a:rPr>
              <a:t>looking at where to allocate funding</a:t>
            </a:r>
          </a:p>
          <a:p>
            <a:pPr marL="285750" indent="-285750">
              <a:buFontTx/>
              <a:buChar char="-"/>
            </a:pPr>
            <a:r>
              <a:rPr lang="en-US" dirty="0">
                <a:latin typeface="Arial" panose="020B0604020202020204" pitchFamily="34" charset="0"/>
                <a:ea typeface="Arial" panose="020B0604020202020204" pitchFamily="34" charset="0"/>
              </a:rPr>
              <a:t>analyzing crisis areas</a:t>
            </a:r>
          </a:p>
          <a:p>
            <a:pPr marL="285750" indent="-285750">
              <a:buFontTx/>
              <a:buChar char="-"/>
            </a:pPr>
            <a:r>
              <a:rPr lang="en-US" dirty="0">
                <a:latin typeface="Arial" panose="020B0604020202020204" pitchFamily="34" charset="0"/>
                <a:ea typeface="Arial" panose="020B0604020202020204" pitchFamily="34" charset="0"/>
              </a:rPr>
              <a:t>have teens and want to educate oneself</a:t>
            </a:r>
          </a:p>
          <a:p>
            <a:r>
              <a:rPr lang="en-US" dirty="0">
                <a:latin typeface="Arial" panose="020B0604020202020204" pitchFamily="34" charset="0"/>
                <a:ea typeface="Arial" panose="020B0604020202020204" pitchFamily="34" charset="0"/>
              </a:rPr>
              <a:t>…the list is endless</a:t>
            </a:r>
          </a:p>
        </p:txBody>
      </p:sp>
      <p:pic>
        <p:nvPicPr>
          <p:cNvPr id="1028" name="Picture 4" descr="Mental Health Awareness Month">
            <a:extLst>
              <a:ext uri="{FF2B5EF4-FFF2-40B4-BE49-F238E27FC236}">
                <a16:creationId xmlns:a16="http://schemas.microsoft.com/office/drawing/2014/main" id="{4511C08B-76A4-D99E-DDE4-3AD367CEF16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476" y="320476"/>
            <a:ext cx="2514600" cy="181927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7007F534-03D3-DDE4-AFAA-96B03D219D39}"/>
              </a:ext>
            </a:extLst>
          </p:cNvPr>
          <p:cNvSpPr txBox="1"/>
          <p:nvPr/>
        </p:nvSpPr>
        <p:spPr>
          <a:xfrm>
            <a:off x="119476" y="3940935"/>
            <a:ext cx="6835115" cy="2917065"/>
          </a:xfrm>
          <a:prstGeom prst="rect">
            <a:avLst/>
          </a:prstGeom>
          <a:noFill/>
        </p:spPr>
        <p:txBody>
          <a:bodyPr wrap="square" rtlCol="0">
            <a:spAutoFit/>
          </a:bodyPr>
          <a:lstStyle/>
          <a:p>
            <a:r>
              <a:rPr lang="en-US" sz="1800" dirty="0">
                <a:effectLst/>
                <a:latin typeface="Arial" panose="020B0604020202020204" pitchFamily="34" charset="0"/>
                <a:ea typeface="Arial" panose="020B0604020202020204" pitchFamily="34" charset="0"/>
              </a:rPr>
              <a:t>We analyzed data in the U.S. from </a:t>
            </a:r>
            <a:r>
              <a:rPr lang="en-US" dirty="0">
                <a:latin typeface="Arial" panose="020B0604020202020204" pitchFamily="34" charset="0"/>
                <a:ea typeface="Arial" panose="020B0604020202020204" pitchFamily="34" charset="0"/>
              </a:rPr>
              <a:t>2020 – 2022 in the upcoming specified areas of mental health. We were curious mostly about the impact COVID-19 pandemic had on mental health. We analyzed it in three areas; overdose rates, suicide rates, and mental health services received. Mental health services were categorized in four areas all specific to the last four week ; (1) </a:t>
            </a:r>
            <a:r>
              <a:rPr lang="en-US" dirty="0">
                <a:latin typeface="Arial" panose="020B0604020202020204" pitchFamily="34" charset="0"/>
              </a:rPr>
              <a:t>took prescription medication for mental health, (2) received counseling for mental health, (3) took prescription medication for mental health AND received counseling, (4) needed counseling but did not get it.</a:t>
            </a:r>
          </a:p>
        </p:txBody>
      </p:sp>
    </p:spTree>
    <p:extLst>
      <p:ext uri="{BB962C8B-B14F-4D97-AF65-F5344CB8AC3E}">
        <p14:creationId xmlns:p14="http://schemas.microsoft.com/office/powerpoint/2010/main" val="36782729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7A80543-AA4E-17D0-1561-C16E495B3222}"/>
              </a:ext>
            </a:extLst>
          </p:cNvPr>
          <p:cNvSpPr txBox="1"/>
          <p:nvPr/>
        </p:nvSpPr>
        <p:spPr>
          <a:xfrm>
            <a:off x="479977" y="1718650"/>
            <a:ext cx="11419082" cy="1945148"/>
          </a:xfrm>
          <a:prstGeom prst="rect">
            <a:avLst/>
          </a:prstGeom>
          <a:noFill/>
        </p:spPr>
        <p:txBody>
          <a:bodyPr wrap="square">
            <a:spAutoFit/>
          </a:bodyPr>
          <a:lstStyle/>
          <a:p>
            <a:pPr marR="0" lvl="0">
              <a:lnSpc>
                <a:spcPct val="115000"/>
              </a:lnSpc>
              <a:spcBef>
                <a:spcPts val="0"/>
              </a:spcBef>
              <a:spcAft>
                <a:spcPts val="0"/>
              </a:spcAft>
            </a:pPr>
            <a:r>
              <a:rPr lang="en-US" sz="2800" u="none" strike="noStrike" dirty="0">
                <a:effectLst/>
                <a:latin typeface="Arial" panose="020B0604020202020204" pitchFamily="34" charset="0"/>
                <a:ea typeface="Arial" panose="020B0604020202020204" pitchFamily="34" charset="0"/>
              </a:rPr>
              <a:t>How do the states compare regarding mental health engagement?</a:t>
            </a:r>
          </a:p>
          <a:p>
            <a:pPr marR="0" lvl="0">
              <a:lnSpc>
                <a:spcPct val="115000"/>
              </a:lnSpc>
              <a:spcBef>
                <a:spcPts val="0"/>
              </a:spcBef>
              <a:spcAft>
                <a:spcPts val="0"/>
              </a:spcAft>
            </a:pPr>
            <a:r>
              <a:rPr lang="en-US" sz="2800" u="none" strike="noStrike" dirty="0">
                <a:effectLst/>
                <a:latin typeface="Arial" panose="020B0604020202020204" pitchFamily="34" charset="0"/>
                <a:ea typeface="Arial" panose="020B0604020202020204" pitchFamily="34" charset="0"/>
              </a:rPr>
              <a:t>How did suicide rates change during </a:t>
            </a:r>
            <a:r>
              <a:rPr lang="en-US" sz="2800" dirty="0">
                <a:latin typeface="Arial" panose="020B0604020202020204" pitchFamily="34" charset="0"/>
                <a:ea typeface="Arial" panose="020B0604020202020204" pitchFamily="34" charset="0"/>
              </a:rPr>
              <a:t>the</a:t>
            </a:r>
            <a:r>
              <a:rPr lang="en-US" sz="2800" u="none" strike="noStrike" dirty="0">
                <a:effectLst/>
                <a:latin typeface="Arial" panose="020B0604020202020204" pitchFamily="34" charset="0"/>
                <a:ea typeface="Arial" panose="020B0604020202020204" pitchFamily="34" charset="0"/>
              </a:rPr>
              <a:t> time frame?</a:t>
            </a:r>
          </a:p>
          <a:p>
            <a:r>
              <a:rPr lang="en-US" sz="2800" dirty="0">
                <a:effectLst/>
                <a:latin typeface="Arial" panose="020B0604020202020204" pitchFamily="34" charset="0"/>
                <a:ea typeface="Arial" panose="020B0604020202020204" pitchFamily="34" charset="0"/>
              </a:rPr>
              <a:t>How do states compare regarding overdose rates during the time frame?</a:t>
            </a:r>
            <a:endParaRPr lang="en-US" sz="2800" dirty="0"/>
          </a:p>
        </p:txBody>
      </p:sp>
      <p:graphicFrame>
        <p:nvGraphicFramePr>
          <p:cNvPr id="3" name="Table 2">
            <a:extLst>
              <a:ext uri="{FF2B5EF4-FFF2-40B4-BE49-F238E27FC236}">
                <a16:creationId xmlns:a16="http://schemas.microsoft.com/office/drawing/2014/main" id="{48594D9D-BC0B-F77A-E42D-D3DAAC5E9BB7}"/>
              </a:ext>
            </a:extLst>
          </p:cNvPr>
          <p:cNvGraphicFramePr>
            <a:graphicFrameLocks noGrp="1"/>
          </p:cNvGraphicFramePr>
          <p:nvPr>
            <p:extLst>
              <p:ext uri="{D42A27DB-BD31-4B8C-83A1-F6EECF244321}">
                <p14:modId xmlns:p14="http://schemas.microsoft.com/office/powerpoint/2010/main" val="2615623640"/>
              </p:ext>
            </p:extLst>
          </p:nvPr>
        </p:nvGraphicFramePr>
        <p:xfrm>
          <a:off x="9056870" y="4166776"/>
          <a:ext cx="2539977" cy="2308860"/>
        </p:xfrm>
        <a:graphic>
          <a:graphicData uri="http://schemas.openxmlformats.org/drawingml/2006/table">
            <a:tbl>
              <a:tblPr>
                <a:tableStyleId>{5C22544A-7EE6-4342-B048-85BDC9FD1C3A}</a:tableStyleId>
              </a:tblPr>
              <a:tblGrid>
                <a:gridCol w="2539977">
                  <a:extLst>
                    <a:ext uri="{9D8B030D-6E8A-4147-A177-3AD203B41FA5}">
                      <a16:colId xmlns:a16="http://schemas.microsoft.com/office/drawing/2014/main" val="2319674443"/>
                    </a:ext>
                  </a:extLst>
                </a:gridCol>
              </a:tblGrid>
              <a:tr h="266700">
                <a:tc>
                  <a:txBody>
                    <a:bodyPr/>
                    <a:lstStyle/>
                    <a:p>
                      <a:pPr marL="0" marR="0">
                        <a:lnSpc>
                          <a:spcPct val="115000"/>
                        </a:lnSpc>
                        <a:spcBef>
                          <a:spcPts val="0"/>
                        </a:spcBef>
                        <a:spcAft>
                          <a:spcPts val="0"/>
                        </a:spcAft>
                      </a:pPr>
                      <a:r>
                        <a:rPr lang="en-US" sz="2400" dirty="0">
                          <a:effectLst/>
                        </a:rPr>
                        <a:t>Libraries Pursued</a:t>
                      </a:r>
                      <a:endParaRPr lang="en-US" sz="2400" dirty="0">
                        <a:effectLst/>
                        <a:latin typeface="Arial" panose="020B0604020202020204" pitchFamily="34" charset="0"/>
                        <a:ea typeface="Arial" panose="020B0604020202020204" pitchFamily="34" charset="0"/>
                      </a:endParaRPr>
                    </a:p>
                  </a:txBody>
                  <a:tcPr marL="63500" marR="63500" marT="63500" marB="63500">
                    <a:solidFill>
                      <a:schemeClr val="accent6">
                        <a:lumMod val="40000"/>
                        <a:lumOff val="60000"/>
                      </a:schemeClr>
                    </a:solidFill>
                  </a:tcPr>
                </a:tc>
                <a:extLst>
                  <a:ext uri="{0D108BD9-81ED-4DB2-BD59-A6C34878D82A}">
                    <a16:rowId xmlns:a16="http://schemas.microsoft.com/office/drawing/2014/main" val="1220815396"/>
                  </a:ext>
                </a:extLst>
              </a:tr>
              <a:tr h="266700">
                <a:tc>
                  <a:txBody>
                    <a:bodyPr/>
                    <a:lstStyle/>
                    <a:p>
                      <a:pPr marL="342900" marR="0" lvl="0" indent="-342900">
                        <a:lnSpc>
                          <a:spcPct val="115000"/>
                        </a:lnSpc>
                        <a:spcBef>
                          <a:spcPts val="0"/>
                        </a:spcBef>
                        <a:spcAft>
                          <a:spcPts val="0"/>
                        </a:spcAft>
                        <a:buFont typeface="Arial" panose="020B0604020202020204" pitchFamily="34" charset="0"/>
                        <a:buChar char="●"/>
                      </a:pPr>
                      <a:r>
                        <a:rPr lang="en-US" sz="2400" u="none" strike="noStrike" dirty="0">
                          <a:effectLst/>
                        </a:rPr>
                        <a:t>Leaflet</a:t>
                      </a:r>
                    </a:p>
                    <a:p>
                      <a:pPr marL="342900" marR="0" lvl="0" indent="-342900">
                        <a:lnSpc>
                          <a:spcPct val="115000"/>
                        </a:lnSpc>
                        <a:spcBef>
                          <a:spcPts val="0"/>
                        </a:spcBef>
                        <a:spcAft>
                          <a:spcPts val="0"/>
                        </a:spcAft>
                        <a:buFont typeface="Arial" panose="020B0604020202020204" pitchFamily="34" charset="0"/>
                        <a:buChar char="●"/>
                      </a:pPr>
                      <a:r>
                        <a:rPr lang="en-US" sz="2400" u="none" strike="noStrike" dirty="0" err="1">
                          <a:effectLst/>
                        </a:rPr>
                        <a:t>Plotly</a:t>
                      </a:r>
                      <a:endParaRPr lang="en-US" sz="2400" u="none" strike="noStrike" dirty="0">
                        <a:effectLst/>
                      </a:endParaRPr>
                    </a:p>
                    <a:p>
                      <a:pPr marL="342900" marR="0" lvl="0" indent="-342900">
                        <a:lnSpc>
                          <a:spcPct val="115000"/>
                        </a:lnSpc>
                        <a:spcBef>
                          <a:spcPts val="0"/>
                        </a:spcBef>
                        <a:spcAft>
                          <a:spcPts val="0"/>
                        </a:spcAft>
                        <a:buFont typeface="Arial" panose="020B0604020202020204" pitchFamily="34" charset="0"/>
                        <a:buChar char="●"/>
                      </a:pPr>
                      <a:r>
                        <a:rPr lang="en-US" sz="2400" u="none" strike="noStrike" dirty="0">
                          <a:effectLst/>
                        </a:rPr>
                        <a:t>Pandas</a:t>
                      </a:r>
                    </a:p>
                    <a:p>
                      <a:pPr marL="342900" marR="0" lvl="0" indent="-342900">
                        <a:lnSpc>
                          <a:spcPct val="115000"/>
                        </a:lnSpc>
                        <a:spcBef>
                          <a:spcPts val="0"/>
                        </a:spcBef>
                        <a:spcAft>
                          <a:spcPts val="0"/>
                        </a:spcAft>
                        <a:buFont typeface="Arial" panose="020B0604020202020204" pitchFamily="34" charset="0"/>
                        <a:buChar char="●"/>
                      </a:pPr>
                      <a:r>
                        <a:rPr lang="en-US" sz="2400" u="none" strike="noStrike" dirty="0">
                          <a:effectLst/>
                        </a:rPr>
                        <a:t>node</a:t>
                      </a:r>
                      <a:endParaRPr lang="en-US" sz="2400" u="none" strike="noStrike" dirty="0">
                        <a:effectLst/>
                        <a:latin typeface="Arial" panose="020B0604020202020204" pitchFamily="34" charset="0"/>
                        <a:ea typeface="Arial" panose="020B0604020202020204" pitchFamily="34" charset="0"/>
                      </a:endParaRPr>
                    </a:p>
                  </a:txBody>
                  <a:tcPr marL="63500" marR="63500" marT="63500" marB="63500">
                    <a:solidFill>
                      <a:schemeClr val="accent6">
                        <a:lumMod val="40000"/>
                        <a:lumOff val="60000"/>
                      </a:schemeClr>
                    </a:solidFill>
                  </a:tcPr>
                </a:tc>
                <a:extLst>
                  <a:ext uri="{0D108BD9-81ED-4DB2-BD59-A6C34878D82A}">
                    <a16:rowId xmlns:a16="http://schemas.microsoft.com/office/drawing/2014/main" val="600674486"/>
                  </a:ext>
                </a:extLst>
              </a:tr>
            </a:tbl>
          </a:graphicData>
        </a:graphic>
      </p:graphicFrame>
      <p:graphicFrame>
        <p:nvGraphicFramePr>
          <p:cNvPr id="4" name="Table 3">
            <a:extLst>
              <a:ext uri="{FF2B5EF4-FFF2-40B4-BE49-F238E27FC236}">
                <a16:creationId xmlns:a16="http://schemas.microsoft.com/office/drawing/2014/main" id="{AEC9D17B-E5F6-9BA8-789F-0306D3E3E3D9}"/>
              </a:ext>
            </a:extLst>
          </p:cNvPr>
          <p:cNvGraphicFramePr>
            <a:graphicFrameLocks noGrp="1"/>
          </p:cNvGraphicFramePr>
          <p:nvPr>
            <p:extLst>
              <p:ext uri="{D42A27DB-BD31-4B8C-83A1-F6EECF244321}">
                <p14:modId xmlns:p14="http://schemas.microsoft.com/office/powerpoint/2010/main" val="2511821637"/>
              </p:ext>
            </p:extLst>
          </p:nvPr>
        </p:nvGraphicFramePr>
        <p:xfrm>
          <a:off x="595153" y="5341290"/>
          <a:ext cx="2714718" cy="1046988"/>
        </p:xfrm>
        <a:graphic>
          <a:graphicData uri="http://schemas.openxmlformats.org/drawingml/2006/table">
            <a:tbl>
              <a:tblPr>
                <a:tableStyleId>{5C22544A-7EE6-4342-B048-85BDC9FD1C3A}</a:tableStyleId>
              </a:tblPr>
              <a:tblGrid>
                <a:gridCol w="2714718">
                  <a:extLst>
                    <a:ext uri="{9D8B030D-6E8A-4147-A177-3AD203B41FA5}">
                      <a16:colId xmlns:a16="http://schemas.microsoft.com/office/drawing/2014/main" val="2114101550"/>
                    </a:ext>
                  </a:extLst>
                </a:gridCol>
              </a:tblGrid>
              <a:tr h="266700">
                <a:tc>
                  <a:txBody>
                    <a:bodyPr/>
                    <a:lstStyle/>
                    <a:p>
                      <a:pPr marL="0" marR="0">
                        <a:lnSpc>
                          <a:spcPct val="115000"/>
                        </a:lnSpc>
                        <a:spcBef>
                          <a:spcPts val="0"/>
                        </a:spcBef>
                        <a:spcAft>
                          <a:spcPts val="0"/>
                        </a:spcAft>
                      </a:pPr>
                      <a:r>
                        <a:rPr lang="en-US" sz="2400" dirty="0">
                          <a:effectLst/>
                        </a:rPr>
                        <a:t>Database Pursued</a:t>
                      </a:r>
                      <a:endParaRPr lang="en-US" sz="2400" dirty="0">
                        <a:effectLst/>
                        <a:latin typeface="Arial" panose="020B0604020202020204" pitchFamily="34" charset="0"/>
                        <a:ea typeface="Arial" panose="020B0604020202020204" pitchFamily="34" charset="0"/>
                      </a:endParaRPr>
                    </a:p>
                  </a:txBody>
                  <a:tcPr marL="63500" marR="63500" marT="63500" marB="63500">
                    <a:solidFill>
                      <a:schemeClr val="accent6"/>
                    </a:solidFill>
                  </a:tcPr>
                </a:tc>
                <a:extLst>
                  <a:ext uri="{0D108BD9-81ED-4DB2-BD59-A6C34878D82A}">
                    <a16:rowId xmlns:a16="http://schemas.microsoft.com/office/drawing/2014/main" val="494746084"/>
                  </a:ext>
                </a:extLst>
              </a:tr>
              <a:tr h="266700">
                <a:tc>
                  <a:txBody>
                    <a:bodyPr/>
                    <a:lstStyle/>
                    <a:p>
                      <a:pPr marL="742950" marR="0" lvl="1" indent="-285750">
                        <a:lnSpc>
                          <a:spcPct val="115000"/>
                        </a:lnSpc>
                        <a:spcBef>
                          <a:spcPts val="0"/>
                        </a:spcBef>
                        <a:spcAft>
                          <a:spcPts val="0"/>
                        </a:spcAft>
                        <a:buFont typeface="Arial" panose="020B0604020202020204" pitchFamily="34" charset="0"/>
                        <a:buChar char="○"/>
                      </a:pPr>
                      <a:r>
                        <a:rPr lang="en-US" sz="2400" u="none" strike="noStrike" dirty="0">
                          <a:effectLst/>
                        </a:rPr>
                        <a:t>Postgres</a:t>
                      </a:r>
                      <a:endParaRPr lang="en-US" sz="2400" u="none" strike="noStrike" dirty="0">
                        <a:effectLst/>
                        <a:latin typeface="Arial" panose="020B0604020202020204" pitchFamily="34" charset="0"/>
                        <a:ea typeface="Arial" panose="020B0604020202020204" pitchFamily="34" charset="0"/>
                      </a:endParaRPr>
                    </a:p>
                  </a:txBody>
                  <a:tcPr marL="63500" marR="63500" marT="63500" marB="63500">
                    <a:solidFill>
                      <a:schemeClr val="accent6"/>
                    </a:solidFill>
                  </a:tcPr>
                </a:tc>
                <a:extLst>
                  <a:ext uri="{0D108BD9-81ED-4DB2-BD59-A6C34878D82A}">
                    <a16:rowId xmlns:a16="http://schemas.microsoft.com/office/drawing/2014/main" val="3715365540"/>
                  </a:ext>
                </a:extLst>
              </a:tr>
            </a:tbl>
          </a:graphicData>
        </a:graphic>
      </p:graphicFrame>
      <p:sp>
        <p:nvSpPr>
          <p:cNvPr id="6" name="TextBox 5">
            <a:extLst>
              <a:ext uri="{FF2B5EF4-FFF2-40B4-BE49-F238E27FC236}">
                <a16:creationId xmlns:a16="http://schemas.microsoft.com/office/drawing/2014/main" id="{3960F2E6-F61A-8711-51FA-00F64B074217}"/>
              </a:ext>
            </a:extLst>
          </p:cNvPr>
          <p:cNvSpPr txBox="1"/>
          <p:nvPr/>
        </p:nvSpPr>
        <p:spPr>
          <a:xfrm>
            <a:off x="595153" y="394855"/>
            <a:ext cx="2925416" cy="830997"/>
          </a:xfrm>
          <a:prstGeom prst="rect">
            <a:avLst/>
          </a:prstGeom>
          <a:noFill/>
        </p:spPr>
        <p:txBody>
          <a:bodyPr wrap="none" rtlCol="0">
            <a:spAutoFit/>
          </a:bodyPr>
          <a:lstStyle/>
          <a:p>
            <a:r>
              <a:rPr lang="en-US" sz="4800" dirty="0"/>
              <a:t>Questions</a:t>
            </a:r>
          </a:p>
        </p:txBody>
      </p:sp>
      <p:graphicFrame>
        <p:nvGraphicFramePr>
          <p:cNvPr id="7" name="Table 6">
            <a:extLst>
              <a:ext uri="{FF2B5EF4-FFF2-40B4-BE49-F238E27FC236}">
                <a16:creationId xmlns:a16="http://schemas.microsoft.com/office/drawing/2014/main" id="{D2B8AFAE-9D00-F715-F0A2-851F00C84289}"/>
              </a:ext>
            </a:extLst>
          </p:cNvPr>
          <p:cNvGraphicFramePr>
            <a:graphicFrameLocks noGrp="1"/>
          </p:cNvGraphicFramePr>
          <p:nvPr>
            <p:extLst>
              <p:ext uri="{D42A27DB-BD31-4B8C-83A1-F6EECF244321}">
                <p14:modId xmlns:p14="http://schemas.microsoft.com/office/powerpoint/2010/main" val="961939294"/>
              </p:ext>
            </p:extLst>
          </p:nvPr>
        </p:nvGraphicFramePr>
        <p:xfrm>
          <a:off x="3812078" y="4980864"/>
          <a:ext cx="4754880" cy="1482281"/>
        </p:xfrm>
        <a:graphic>
          <a:graphicData uri="http://schemas.openxmlformats.org/drawingml/2006/table">
            <a:tbl>
              <a:tblPr>
                <a:tableStyleId>{5C22544A-7EE6-4342-B048-85BDC9FD1C3A}</a:tableStyleId>
              </a:tblPr>
              <a:tblGrid>
                <a:gridCol w="4754880">
                  <a:extLst>
                    <a:ext uri="{9D8B030D-6E8A-4147-A177-3AD203B41FA5}">
                      <a16:colId xmlns:a16="http://schemas.microsoft.com/office/drawing/2014/main" val="1590652267"/>
                    </a:ext>
                  </a:extLst>
                </a:gridCol>
              </a:tblGrid>
              <a:tr h="266700">
                <a:tc>
                  <a:txBody>
                    <a:bodyPr/>
                    <a:lstStyle/>
                    <a:p>
                      <a:pPr marL="0" marR="0">
                        <a:lnSpc>
                          <a:spcPct val="115000"/>
                        </a:lnSpc>
                        <a:spcBef>
                          <a:spcPts val="0"/>
                        </a:spcBef>
                        <a:spcAft>
                          <a:spcPts val="0"/>
                        </a:spcAft>
                      </a:pPr>
                      <a:r>
                        <a:rPr lang="en-US" sz="1800" dirty="0">
                          <a:effectLst/>
                        </a:rPr>
                        <a:t>Datasets Pursued</a:t>
                      </a:r>
                      <a:endParaRPr lang="en-US" sz="1800" dirty="0">
                        <a:effectLst/>
                        <a:latin typeface="Arial" panose="020B0604020202020204" pitchFamily="34" charset="0"/>
                        <a:ea typeface="Arial" panose="020B0604020202020204" pitchFamily="34" charset="0"/>
                      </a:endParaRPr>
                    </a:p>
                  </a:txBody>
                  <a:tcPr marL="63500" marR="63500" marT="63500" marB="63500">
                    <a:solidFill>
                      <a:schemeClr val="accent5">
                        <a:lumMod val="60000"/>
                        <a:lumOff val="40000"/>
                      </a:schemeClr>
                    </a:solidFill>
                  </a:tcPr>
                </a:tc>
                <a:extLst>
                  <a:ext uri="{0D108BD9-81ED-4DB2-BD59-A6C34878D82A}">
                    <a16:rowId xmlns:a16="http://schemas.microsoft.com/office/drawing/2014/main" val="1470319783"/>
                  </a:ext>
                </a:extLst>
              </a:tr>
              <a:tr h="266700">
                <a:tc>
                  <a:txBody>
                    <a:bodyPr/>
                    <a:lstStyle/>
                    <a:p>
                      <a:pPr marL="342900" marR="0" lvl="0" indent="-342900">
                        <a:lnSpc>
                          <a:spcPct val="115000"/>
                        </a:lnSpc>
                        <a:spcBef>
                          <a:spcPts val="0"/>
                        </a:spcBef>
                        <a:spcAft>
                          <a:spcPts val="0"/>
                        </a:spcAft>
                        <a:buFont typeface="Arial" panose="020B0604020202020204" pitchFamily="34" charset="0"/>
                        <a:buChar char="●"/>
                      </a:pPr>
                      <a:r>
                        <a:rPr lang="en-US" sz="1800" u="none" strike="noStrike" dirty="0">
                          <a:effectLst/>
                        </a:rPr>
                        <a:t>USCB/CDC for last 4 weeks MH care data</a:t>
                      </a:r>
                    </a:p>
                    <a:p>
                      <a:pPr marL="342900" marR="0" lvl="0" indent="-342900">
                        <a:lnSpc>
                          <a:spcPct val="115000"/>
                        </a:lnSpc>
                        <a:spcBef>
                          <a:spcPts val="0"/>
                        </a:spcBef>
                        <a:spcAft>
                          <a:spcPts val="0"/>
                        </a:spcAft>
                        <a:buFont typeface="Arial" panose="020B0604020202020204" pitchFamily="34" charset="0"/>
                        <a:buChar char="●"/>
                      </a:pPr>
                      <a:r>
                        <a:rPr lang="en-US" sz="1800" u="none" strike="noStrike" dirty="0">
                          <a:effectLst/>
                        </a:rPr>
                        <a:t>CDC WONDER for suicide data</a:t>
                      </a:r>
                    </a:p>
                    <a:p>
                      <a:pPr marL="342900" marR="0" lvl="0" indent="-342900">
                        <a:lnSpc>
                          <a:spcPct val="115000"/>
                        </a:lnSpc>
                        <a:spcBef>
                          <a:spcPts val="0"/>
                        </a:spcBef>
                        <a:spcAft>
                          <a:spcPts val="0"/>
                        </a:spcAft>
                        <a:buFont typeface="Arial" panose="020B0604020202020204" pitchFamily="34" charset="0"/>
                        <a:buChar char="●"/>
                      </a:pPr>
                      <a:r>
                        <a:rPr lang="en-US" sz="1800" u="none" strike="noStrike" dirty="0">
                          <a:effectLst/>
                        </a:rPr>
                        <a:t>NVSS/NCHS on CDC</a:t>
                      </a:r>
                    </a:p>
                  </a:txBody>
                  <a:tcPr marL="63500" marR="63500" marT="63500" marB="63500">
                    <a:solidFill>
                      <a:schemeClr val="accent5">
                        <a:lumMod val="60000"/>
                        <a:lumOff val="40000"/>
                      </a:schemeClr>
                    </a:solidFill>
                  </a:tcPr>
                </a:tc>
                <a:extLst>
                  <a:ext uri="{0D108BD9-81ED-4DB2-BD59-A6C34878D82A}">
                    <a16:rowId xmlns:a16="http://schemas.microsoft.com/office/drawing/2014/main" val="1626531638"/>
                  </a:ext>
                </a:extLst>
              </a:tr>
            </a:tbl>
          </a:graphicData>
        </a:graphic>
      </p:graphicFrame>
    </p:spTree>
    <p:extLst>
      <p:ext uri="{BB962C8B-B14F-4D97-AF65-F5344CB8AC3E}">
        <p14:creationId xmlns:p14="http://schemas.microsoft.com/office/powerpoint/2010/main" val="8915788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9B12379-3B67-8391-25F4-FF0DCAB80FC7}"/>
              </a:ext>
            </a:extLst>
          </p:cNvPr>
          <p:cNvSpPr txBox="1"/>
          <p:nvPr/>
        </p:nvSpPr>
        <p:spPr>
          <a:xfrm>
            <a:off x="126577" y="237842"/>
            <a:ext cx="9163748" cy="2693045"/>
          </a:xfrm>
          <a:prstGeom prst="rect">
            <a:avLst/>
          </a:prstGeom>
          <a:noFill/>
        </p:spPr>
        <p:txBody>
          <a:bodyPr wrap="square">
            <a:spAutoFit/>
          </a:bodyPr>
          <a:lstStyle/>
          <a:p>
            <a:pPr algn="l"/>
            <a:r>
              <a:rPr lang="en-US" b="1" u="sng" dirty="0">
                <a:solidFill>
                  <a:srgbClr val="1B1B1B"/>
                </a:solidFill>
                <a:latin typeface="Lato" panose="020F0502020204030203" pitchFamily="34" charset="0"/>
              </a:rPr>
              <a:t>Dataset 1</a:t>
            </a:r>
            <a:r>
              <a:rPr lang="en-US" sz="1600" dirty="0">
                <a:solidFill>
                  <a:srgbClr val="1B1B1B"/>
                </a:solidFill>
                <a:latin typeface="Lato" panose="020F0502020204030203" pitchFamily="34" charset="0"/>
              </a:rPr>
              <a:t>: </a:t>
            </a:r>
            <a:r>
              <a:rPr lang="en-US" sz="1700" dirty="0">
                <a:solidFill>
                  <a:srgbClr val="1B1B1B"/>
                </a:solidFill>
                <a:latin typeface="Lato" panose="020F0502020204030203" pitchFamily="34" charset="0"/>
              </a:rPr>
              <a:t>mental health care in the last four weeks. </a:t>
            </a:r>
          </a:p>
          <a:p>
            <a:pPr algn="l"/>
            <a:r>
              <a:rPr lang="en-US" sz="1700" dirty="0">
                <a:solidFill>
                  <a:srgbClr val="1B1B1B"/>
                </a:solidFill>
                <a:latin typeface="Lato" panose="020F0502020204030203" pitchFamily="34" charset="0"/>
              </a:rPr>
              <a:t>Published by the Center for Disease Control, the U.S. Census Bureau, in collaboration with five federal agencies including the U.S. Department of Health &amp; Human Services, launched the Household Pulse Survey to produce data on the social and economic impacts. The Household Pulse Survey was designed to gauge the impact of the pandemic on employment status, consumer spending, food security, housing, education disruptions, and dimensions of physical </a:t>
            </a:r>
            <a:r>
              <a:rPr lang="en-US" sz="1700" b="0" i="0" dirty="0">
                <a:solidFill>
                  <a:srgbClr val="1B1B1B"/>
                </a:solidFill>
                <a:effectLst/>
                <a:latin typeface="Lato" panose="020F0502020204030203" pitchFamily="34" charset="0"/>
              </a:rPr>
              <a:t>and mental wellness. It was conducted by an internet questionnaire, with invitations to participate sent by email and text message. </a:t>
            </a:r>
          </a:p>
          <a:p>
            <a:pPr algn="l"/>
            <a:endParaRPr lang="en-US" sz="1600" dirty="0">
              <a:solidFill>
                <a:srgbClr val="1B1B1B"/>
              </a:solidFill>
              <a:latin typeface="Lato" panose="020F0502020204030203" pitchFamily="34" charset="0"/>
            </a:endParaRPr>
          </a:p>
          <a:p>
            <a:pPr algn="l"/>
            <a:endParaRPr lang="en-US" sz="1600" dirty="0">
              <a:solidFill>
                <a:srgbClr val="000000"/>
              </a:solidFill>
              <a:latin typeface="Nunito" panose="020F0502020204030204" pitchFamily="2" charset="0"/>
            </a:endParaRPr>
          </a:p>
        </p:txBody>
      </p:sp>
      <p:pic>
        <p:nvPicPr>
          <p:cNvPr id="5" name="Picture 4">
            <a:extLst>
              <a:ext uri="{FF2B5EF4-FFF2-40B4-BE49-F238E27FC236}">
                <a16:creationId xmlns:a16="http://schemas.microsoft.com/office/drawing/2014/main" id="{231D3771-49A3-5AD5-E7E4-E01E4F05B8AD}"/>
              </a:ext>
            </a:extLst>
          </p:cNvPr>
          <p:cNvPicPr>
            <a:picLocks noChangeAspect="1"/>
          </p:cNvPicPr>
          <p:nvPr/>
        </p:nvPicPr>
        <p:blipFill>
          <a:blip r:embed="rId2"/>
          <a:stretch>
            <a:fillRect/>
          </a:stretch>
        </p:blipFill>
        <p:spPr>
          <a:xfrm>
            <a:off x="405774" y="2749405"/>
            <a:ext cx="5374908" cy="1207047"/>
          </a:xfrm>
          <a:prstGeom prst="rect">
            <a:avLst/>
          </a:prstGeom>
        </p:spPr>
      </p:pic>
      <p:pic>
        <p:nvPicPr>
          <p:cNvPr id="7" name="Picture 6">
            <a:extLst>
              <a:ext uri="{FF2B5EF4-FFF2-40B4-BE49-F238E27FC236}">
                <a16:creationId xmlns:a16="http://schemas.microsoft.com/office/drawing/2014/main" id="{8E727AF4-2CC0-5628-5314-4A88D1E44C68}"/>
              </a:ext>
            </a:extLst>
          </p:cNvPr>
          <p:cNvPicPr>
            <a:picLocks noChangeAspect="1"/>
          </p:cNvPicPr>
          <p:nvPr/>
        </p:nvPicPr>
        <p:blipFill>
          <a:blip r:embed="rId3"/>
          <a:stretch>
            <a:fillRect/>
          </a:stretch>
        </p:blipFill>
        <p:spPr>
          <a:xfrm>
            <a:off x="9431472" y="267936"/>
            <a:ext cx="1763464" cy="2217574"/>
          </a:xfrm>
          <a:prstGeom prst="rect">
            <a:avLst/>
          </a:prstGeom>
        </p:spPr>
      </p:pic>
      <p:sp>
        <p:nvSpPr>
          <p:cNvPr id="8" name="TextBox 7">
            <a:extLst>
              <a:ext uri="{FF2B5EF4-FFF2-40B4-BE49-F238E27FC236}">
                <a16:creationId xmlns:a16="http://schemas.microsoft.com/office/drawing/2014/main" id="{0F189394-4A0F-4AD1-BF48-2AFE4B87BFCF}"/>
              </a:ext>
            </a:extLst>
          </p:cNvPr>
          <p:cNvSpPr txBox="1"/>
          <p:nvPr/>
        </p:nvSpPr>
        <p:spPr>
          <a:xfrm>
            <a:off x="357616" y="4034836"/>
            <a:ext cx="5471224" cy="2462213"/>
          </a:xfrm>
          <a:prstGeom prst="rect">
            <a:avLst/>
          </a:prstGeom>
          <a:noFill/>
        </p:spPr>
        <p:txBody>
          <a:bodyPr wrap="square" rtlCol="0">
            <a:spAutoFit/>
          </a:bodyPr>
          <a:lstStyle/>
          <a:p>
            <a:pPr algn="l"/>
            <a:r>
              <a:rPr lang="en-US" b="1" u="sng" dirty="0">
                <a:solidFill>
                  <a:srgbClr val="1B1B1B"/>
                </a:solidFill>
                <a:latin typeface="Lato" panose="020F0502020204030203" pitchFamily="34" charset="0"/>
              </a:rPr>
              <a:t>Dataset 2</a:t>
            </a:r>
            <a:r>
              <a:rPr lang="en-US" sz="1800" dirty="0">
                <a:solidFill>
                  <a:srgbClr val="1B1B1B"/>
                </a:solidFill>
                <a:latin typeface="Lato" panose="020F0502020204030203" pitchFamily="34" charset="0"/>
              </a:rPr>
              <a:t>: </a:t>
            </a:r>
            <a:r>
              <a:rPr lang="en-US" sz="1700" dirty="0">
                <a:solidFill>
                  <a:srgbClr val="1B1B1B"/>
                </a:solidFill>
                <a:latin typeface="Lato" panose="020F0502020204030203" pitchFamily="34" charset="0"/>
              </a:rPr>
              <a:t>drug overdose deaths. </a:t>
            </a:r>
          </a:p>
          <a:p>
            <a:pPr algn="l"/>
            <a:r>
              <a:rPr lang="en-US" sz="1700" dirty="0">
                <a:solidFill>
                  <a:srgbClr val="1B1B1B"/>
                </a:solidFill>
                <a:latin typeface="Lato" panose="020F0502020204030203" pitchFamily="34" charset="0"/>
              </a:rPr>
              <a:t>National Vital Statistics System presents counts for drug overdose deaths based on death records received and processed by the National Center for Health Statistics (NCHS) which is a part of CDC. NCHS receives the death records from state vital registration offices through the Vital Statistics Cooperative Program. The counts include deaths occurring within the 50 states as of the date specified. </a:t>
            </a:r>
          </a:p>
        </p:txBody>
      </p:sp>
      <p:sp>
        <p:nvSpPr>
          <p:cNvPr id="9" name="TextBox 8">
            <a:extLst>
              <a:ext uri="{FF2B5EF4-FFF2-40B4-BE49-F238E27FC236}">
                <a16:creationId xmlns:a16="http://schemas.microsoft.com/office/drawing/2014/main" id="{D5E4D673-8110-CC04-EB56-702DD4C344E1}"/>
              </a:ext>
            </a:extLst>
          </p:cNvPr>
          <p:cNvSpPr txBox="1"/>
          <p:nvPr/>
        </p:nvSpPr>
        <p:spPr>
          <a:xfrm>
            <a:off x="6096001" y="2749405"/>
            <a:ext cx="5441373" cy="3470181"/>
          </a:xfrm>
          <a:prstGeom prst="rect">
            <a:avLst/>
          </a:prstGeom>
          <a:noFill/>
        </p:spPr>
        <p:txBody>
          <a:bodyPr wrap="square" rtlCol="0">
            <a:spAutoFit/>
          </a:bodyPr>
          <a:lstStyle/>
          <a:p>
            <a:pPr algn="l"/>
            <a:r>
              <a:rPr lang="en-US" b="1" u="sng" dirty="0">
                <a:solidFill>
                  <a:srgbClr val="1B1B1B"/>
                </a:solidFill>
                <a:latin typeface="Lato" panose="020F0502020204030203" pitchFamily="34" charset="0"/>
              </a:rPr>
              <a:t>Dataset 3</a:t>
            </a:r>
            <a:r>
              <a:rPr lang="en-US" sz="1800" b="0" i="0" dirty="0">
                <a:solidFill>
                  <a:srgbClr val="000000"/>
                </a:solidFill>
                <a:effectLst/>
                <a:latin typeface="Nunito" panose="020F0502020204030204" pitchFamily="2" charset="0"/>
              </a:rPr>
              <a:t>: </a:t>
            </a:r>
            <a:r>
              <a:rPr lang="en-US" sz="1600" dirty="0">
                <a:solidFill>
                  <a:srgbClr val="1B1B1B"/>
                </a:solidFill>
                <a:latin typeface="Lato" panose="020F0502020204030203" pitchFamily="34" charset="0"/>
              </a:rPr>
              <a:t>suicide data. </a:t>
            </a:r>
          </a:p>
          <a:p>
            <a:pPr algn="l"/>
            <a:r>
              <a:rPr lang="en-US" sz="1500" dirty="0">
                <a:solidFill>
                  <a:srgbClr val="1B1B1B"/>
                </a:solidFill>
                <a:latin typeface="Lato" panose="020F0502020204030203" pitchFamily="34" charset="0"/>
              </a:rPr>
              <a:t>Pulled from CDC WONDER</a:t>
            </a:r>
          </a:p>
          <a:p>
            <a:pPr algn="l"/>
            <a:r>
              <a:rPr lang="en-US" sz="1500" dirty="0">
                <a:solidFill>
                  <a:srgbClr val="1B1B1B"/>
                </a:solidFill>
                <a:latin typeface="Lato" panose="020F0502020204030203" pitchFamily="34" charset="0"/>
              </a:rPr>
              <a:t>Center (Wide-ranging Online Data for Epidemiologic Research), a public menu-driven system that holds a variety of public health datasets. We used the mortality data available which is produced by National Center for Health Statistics (NCHS) at the Centers for Disease Control and Prevention (CDC). Mortality information is collected by state registries and provided to the National Vital Statistics System. Data are based on death certificates and the main underlying cause of death. We used the ICD-10 codes specific to suicide. For the dataset we collected, the crude rate in the dataset = number of suicide deaths in a year, divided by the population and multiplied by 100,000.</a:t>
            </a:r>
          </a:p>
        </p:txBody>
      </p:sp>
      <p:sp>
        <p:nvSpPr>
          <p:cNvPr id="10" name="Rectangle 9">
            <a:extLst>
              <a:ext uri="{FF2B5EF4-FFF2-40B4-BE49-F238E27FC236}">
                <a16:creationId xmlns:a16="http://schemas.microsoft.com/office/drawing/2014/main" id="{79029BA7-AE46-BE80-EF2B-778602249292}"/>
              </a:ext>
            </a:extLst>
          </p:cNvPr>
          <p:cNvSpPr/>
          <p:nvPr/>
        </p:nvSpPr>
        <p:spPr>
          <a:xfrm>
            <a:off x="357616" y="2699935"/>
            <a:ext cx="5471225" cy="3947785"/>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1" name="Rectangle 10">
            <a:extLst>
              <a:ext uri="{FF2B5EF4-FFF2-40B4-BE49-F238E27FC236}">
                <a16:creationId xmlns:a16="http://schemas.microsoft.com/office/drawing/2014/main" id="{A050E7A1-DA9C-37F3-C0C6-760BD6468FA8}"/>
              </a:ext>
            </a:extLst>
          </p:cNvPr>
          <p:cNvSpPr/>
          <p:nvPr/>
        </p:nvSpPr>
        <p:spPr>
          <a:xfrm>
            <a:off x="126576" y="210280"/>
            <a:ext cx="11843751" cy="2332887"/>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2" name="Rectangle 11">
            <a:extLst>
              <a:ext uri="{FF2B5EF4-FFF2-40B4-BE49-F238E27FC236}">
                <a16:creationId xmlns:a16="http://schemas.microsoft.com/office/drawing/2014/main" id="{2E2BFC29-7B1C-AB8D-4536-052E2865896A}"/>
              </a:ext>
            </a:extLst>
          </p:cNvPr>
          <p:cNvSpPr/>
          <p:nvPr/>
        </p:nvSpPr>
        <p:spPr>
          <a:xfrm>
            <a:off x="6059881" y="2699064"/>
            <a:ext cx="5667942" cy="3947785"/>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14" name="Picture 13">
            <a:extLst>
              <a:ext uri="{FF2B5EF4-FFF2-40B4-BE49-F238E27FC236}">
                <a16:creationId xmlns:a16="http://schemas.microsoft.com/office/drawing/2014/main" id="{729BE085-AA68-6392-3E0C-245B26880DAE}"/>
              </a:ext>
            </a:extLst>
          </p:cNvPr>
          <p:cNvPicPr>
            <a:picLocks noChangeAspect="1"/>
          </p:cNvPicPr>
          <p:nvPr/>
        </p:nvPicPr>
        <p:blipFill>
          <a:blip r:embed="rId4"/>
          <a:stretch>
            <a:fillRect/>
          </a:stretch>
        </p:blipFill>
        <p:spPr>
          <a:xfrm>
            <a:off x="6173165" y="6056232"/>
            <a:ext cx="5441373" cy="513777"/>
          </a:xfrm>
          <a:prstGeom prst="rect">
            <a:avLst/>
          </a:prstGeom>
        </p:spPr>
      </p:pic>
    </p:spTree>
    <p:extLst>
      <p:ext uri="{BB962C8B-B14F-4D97-AF65-F5344CB8AC3E}">
        <p14:creationId xmlns:p14="http://schemas.microsoft.com/office/powerpoint/2010/main" val="7592357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1000">
              <a:schemeClr val="bg2">
                <a:tint val="94000"/>
                <a:satMod val="80000"/>
                <a:lumMod val="106000"/>
              </a:schemeClr>
            </a:gs>
            <a:gs pos="100000">
              <a:schemeClr val="bg2">
                <a:shade val="80000"/>
              </a:schemeClr>
            </a:gs>
          </a:gsLst>
          <a:path path="circle">
            <a:fillToRect l="43000" r="43000" b="100000"/>
          </a:path>
        </a:gradFill>
        <a:effectLst/>
      </p:bgPr>
    </p:bg>
    <p:spTree>
      <p:nvGrpSpPr>
        <p:cNvPr id="1" name="">
          <a:extLst>
            <a:ext uri="{FF2B5EF4-FFF2-40B4-BE49-F238E27FC236}">
              <a16:creationId xmlns:a16="http://schemas.microsoft.com/office/drawing/2014/main" id="{4E35BE08-D9AC-D5B3-F586-5F790F51315B}"/>
            </a:ext>
          </a:extLst>
        </p:cNvPr>
        <p:cNvGrpSpPr/>
        <p:nvPr/>
      </p:nvGrpSpPr>
      <p:grpSpPr>
        <a:xfrm>
          <a:off x="0" y="0"/>
          <a:ext cx="0" cy="0"/>
          <a:chOff x="0" y="0"/>
          <a:chExt cx="0" cy="0"/>
        </a:xfrm>
      </p:grpSpPr>
      <p:sp useBgFill="1">
        <p:nvSpPr>
          <p:cNvPr id="47" name="Rectangle 46">
            <a:extLst>
              <a:ext uri="{FF2B5EF4-FFF2-40B4-BE49-F238E27FC236}">
                <a16:creationId xmlns:a16="http://schemas.microsoft.com/office/drawing/2014/main" id="{8950AD4C-6AF3-49F8-94E1-DBCAFB3947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tint val="95000"/>
              <a:satMod val="1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Meiryo"/>
            </a:endParaRPr>
          </a:p>
        </p:txBody>
      </p:sp>
      <p:sp>
        <p:nvSpPr>
          <p:cNvPr id="36" name="Freeform: Shape 35">
            <a:extLst>
              <a:ext uri="{FF2B5EF4-FFF2-40B4-BE49-F238E27FC236}">
                <a16:creationId xmlns:a16="http://schemas.microsoft.com/office/drawing/2014/main" id="{2F0E00C3-4613-415F-BE3A-78FBAD9061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0495175" cy="6858000"/>
          </a:xfrm>
          <a:custGeom>
            <a:avLst/>
            <a:gdLst>
              <a:gd name="connsiteX0" fmla="*/ 0 w 10495175"/>
              <a:gd name="connsiteY0" fmla="*/ 0 h 6858000"/>
              <a:gd name="connsiteX1" fmla="*/ 5289224 w 10495175"/>
              <a:gd name="connsiteY1" fmla="*/ 0 h 6858000"/>
              <a:gd name="connsiteX2" fmla="*/ 6736007 w 10495175"/>
              <a:gd name="connsiteY2" fmla="*/ 0 h 6858000"/>
              <a:gd name="connsiteX3" fmla="*/ 6998753 w 10495175"/>
              <a:gd name="connsiteY3" fmla="*/ 0 h 6858000"/>
              <a:gd name="connsiteX4" fmla="*/ 7778919 w 10495175"/>
              <a:gd name="connsiteY4" fmla="*/ 0 h 6858000"/>
              <a:gd name="connsiteX5" fmla="*/ 8872152 w 10495175"/>
              <a:gd name="connsiteY5" fmla="*/ 0 h 6858000"/>
              <a:gd name="connsiteX6" fmla="*/ 8894276 w 10495175"/>
              <a:gd name="connsiteY6" fmla="*/ 14997 h 6858000"/>
              <a:gd name="connsiteX7" fmla="*/ 10495175 w 10495175"/>
              <a:gd name="connsiteY7" fmla="*/ 3621656 h 6858000"/>
              <a:gd name="connsiteX8" fmla="*/ 8620825 w 10495175"/>
              <a:gd name="connsiteY8" fmla="*/ 6374814 h 6858000"/>
              <a:gd name="connsiteX9" fmla="*/ 8104177 w 10495175"/>
              <a:gd name="connsiteY9" fmla="*/ 6780599 h 6858000"/>
              <a:gd name="connsiteX10" fmla="*/ 7992421 w 10495175"/>
              <a:gd name="connsiteY10" fmla="*/ 6858000 h 6858000"/>
              <a:gd name="connsiteX11" fmla="*/ 7778919 w 10495175"/>
              <a:gd name="connsiteY11" fmla="*/ 6858000 h 6858000"/>
              <a:gd name="connsiteX12" fmla="*/ 6998753 w 10495175"/>
              <a:gd name="connsiteY12" fmla="*/ 6858000 h 6858000"/>
              <a:gd name="connsiteX13" fmla="*/ 6736007 w 10495175"/>
              <a:gd name="connsiteY13" fmla="*/ 6858000 h 6858000"/>
              <a:gd name="connsiteX14" fmla="*/ 5289224 w 10495175"/>
              <a:gd name="connsiteY14" fmla="*/ 6858000 h 6858000"/>
              <a:gd name="connsiteX15" fmla="*/ 0 w 10495175"/>
              <a:gd name="connsiteY1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495175" h="6858000">
                <a:moveTo>
                  <a:pt x="0" y="0"/>
                </a:moveTo>
                <a:lnTo>
                  <a:pt x="5289224" y="0"/>
                </a:lnTo>
                <a:lnTo>
                  <a:pt x="6736007" y="0"/>
                </a:lnTo>
                <a:lnTo>
                  <a:pt x="6998753" y="0"/>
                </a:lnTo>
                <a:lnTo>
                  <a:pt x="7778919" y="0"/>
                </a:lnTo>
                <a:lnTo>
                  <a:pt x="8872152" y="0"/>
                </a:lnTo>
                <a:lnTo>
                  <a:pt x="8894276" y="14997"/>
                </a:lnTo>
                <a:cubicBezTo>
                  <a:pt x="9921439" y="754641"/>
                  <a:pt x="10495175" y="2093192"/>
                  <a:pt x="10495175" y="3621656"/>
                </a:cubicBezTo>
                <a:cubicBezTo>
                  <a:pt x="10495175" y="4969131"/>
                  <a:pt x="9566450" y="5602839"/>
                  <a:pt x="8620825" y="6374814"/>
                </a:cubicBezTo>
                <a:cubicBezTo>
                  <a:pt x="8448622" y="6515397"/>
                  <a:pt x="8277995" y="6653108"/>
                  <a:pt x="8104177" y="6780599"/>
                </a:cubicBezTo>
                <a:lnTo>
                  <a:pt x="7992421" y="6858000"/>
                </a:lnTo>
                <a:lnTo>
                  <a:pt x="7778919" y="6858000"/>
                </a:lnTo>
                <a:lnTo>
                  <a:pt x="6998753" y="6858000"/>
                </a:lnTo>
                <a:lnTo>
                  <a:pt x="6736007" y="6858000"/>
                </a:lnTo>
                <a:lnTo>
                  <a:pt x="5289224" y="6858000"/>
                </a:lnTo>
                <a:lnTo>
                  <a:pt x="0" y="6858000"/>
                </a:ln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8" name="Freeform: Shape 47">
            <a:extLst>
              <a:ext uri="{FF2B5EF4-FFF2-40B4-BE49-F238E27FC236}">
                <a16:creationId xmlns:a16="http://schemas.microsoft.com/office/drawing/2014/main" id="{8DBEAE55-3EA1-41D7-A212-5F7D8986C1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98020" y="0"/>
            <a:ext cx="2529723" cy="6858000"/>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49" name="Freeform: Shape 48">
            <a:extLst>
              <a:ext uri="{FF2B5EF4-FFF2-40B4-BE49-F238E27FC236}">
                <a16:creationId xmlns:a16="http://schemas.microsoft.com/office/drawing/2014/main" id="{CFC5F0E7-644F-4101-BE72-12825CF537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85964"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pic>
        <p:nvPicPr>
          <p:cNvPr id="3" name="Picture 2">
            <a:extLst>
              <a:ext uri="{FF2B5EF4-FFF2-40B4-BE49-F238E27FC236}">
                <a16:creationId xmlns:a16="http://schemas.microsoft.com/office/drawing/2014/main" id="{43D1DB9E-6C39-416D-7C57-662F7F22005D}"/>
              </a:ext>
            </a:extLst>
          </p:cNvPr>
          <p:cNvPicPr>
            <a:picLocks noChangeAspect="1"/>
          </p:cNvPicPr>
          <p:nvPr/>
        </p:nvPicPr>
        <p:blipFill>
          <a:blip r:embed="rId2"/>
          <a:srcRect r="5329" b="1"/>
          <a:stretch/>
        </p:blipFill>
        <p:spPr>
          <a:xfrm>
            <a:off x="510139" y="790710"/>
            <a:ext cx="8006899" cy="5666537"/>
          </a:xfrm>
          <a:prstGeom prst="rect">
            <a:avLst/>
          </a:prstGeom>
        </p:spPr>
      </p:pic>
      <p:pic>
        <p:nvPicPr>
          <p:cNvPr id="5" name="Picture 6" descr="Free templates on Mental Health for Google Slides &amp; PPT">
            <a:extLst>
              <a:ext uri="{FF2B5EF4-FFF2-40B4-BE49-F238E27FC236}">
                <a16:creationId xmlns:a16="http://schemas.microsoft.com/office/drawing/2014/main" id="{B807BD58-BB82-D534-2F61-61341220E8D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8724" t="15426" r="47452" b="15399"/>
          <a:stretch/>
        </p:blipFill>
        <p:spPr bwMode="auto">
          <a:xfrm>
            <a:off x="10388091" y="5255393"/>
            <a:ext cx="1666652" cy="1479807"/>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EEE63624-527D-4E7B-7347-E96B28CC7113}"/>
              </a:ext>
            </a:extLst>
          </p:cNvPr>
          <p:cNvSpPr txBox="1"/>
          <p:nvPr/>
        </p:nvSpPr>
        <p:spPr>
          <a:xfrm>
            <a:off x="423512" y="144379"/>
            <a:ext cx="7098286" cy="646331"/>
          </a:xfrm>
          <a:prstGeom prst="rect">
            <a:avLst/>
          </a:prstGeom>
          <a:noFill/>
        </p:spPr>
        <p:txBody>
          <a:bodyPr wrap="square" rtlCol="0">
            <a:spAutoFit/>
          </a:bodyPr>
          <a:lstStyle/>
          <a:p>
            <a:r>
              <a:rPr lang="en-US" sz="3600" dirty="0"/>
              <a:t>Create Database</a:t>
            </a:r>
          </a:p>
        </p:txBody>
      </p:sp>
    </p:spTree>
    <p:extLst>
      <p:ext uri="{BB962C8B-B14F-4D97-AF65-F5344CB8AC3E}">
        <p14:creationId xmlns:p14="http://schemas.microsoft.com/office/powerpoint/2010/main" val="6847445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3A421CF-B482-4C2B-DE76-494BAD17640C}"/>
              </a:ext>
            </a:extLst>
          </p:cNvPr>
          <p:cNvPicPr>
            <a:picLocks noChangeAspect="1"/>
          </p:cNvPicPr>
          <p:nvPr/>
        </p:nvPicPr>
        <p:blipFill>
          <a:blip r:embed="rId2"/>
          <a:stretch>
            <a:fillRect/>
          </a:stretch>
        </p:blipFill>
        <p:spPr>
          <a:xfrm>
            <a:off x="1696078" y="1194369"/>
            <a:ext cx="8480767" cy="3772267"/>
          </a:xfrm>
          <a:prstGeom prst="rect">
            <a:avLst/>
          </a:prstGeom>
        </p:spPr>
      </p:pic>
      <p:sp>
        <p:nvSpPr>
          <p:cNvPr id="8" name="TextBox 7">
            <a:extLst>
              <a:ext uri="{FF2B5EF4-FFF2-40B4-BE49-F238E27FC236}">
                <a16:creationId xmlns:a16="http://schemas.microsoft.com/office/drawing/2014/main" id="{65218B8C-B212-41A9-48F3-3BB9A48378C7}"/>
              </a:ext>
            </a:extLst>
          </p:cNvPr>
          <p:cNvSpPr txBox="1"/>
          <p:nvPr/>
        </p:nvSpPr>
        <p:spPr>
          <a:xfrm>
            <a:off x="1087655" y="279133"/>
            <a:ext cx="3537250" cy="369332"/>
          </a:xfrm>
          <a:prstGeom prst="rect">
            <a:avLst/>
          </a:prstGeom>
          <a:noFill/>
        </p:spPr>
        <p:txBody>
          <a:bodyPr wrap="none" rtlCol="0">
            <a:spAutoFit/>
          </a:bodyPr>
          <a:lstStyle/>
          <a:p>
            <a:r>
              <a:rPr lang="en-US" dirty="0"/>
              <a:t>Entity Relationship Diagram (ERD)</a:t>
            </a:r>
          </a:p>
        </p:txBody>
      </p:sp>
    </p:spTree>
    <p:extLst>
      <p:ext uri="{BB962C8B-B14F-4D97-AF65-F5344CB8AC3E}">
        <p14:creationId xmlns:p14="http://schemas.microsoft.com/office/powerpoint/2010/main" val="16348878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E3892DC-3039-7721-4A0E-BCE0751F6892}"/>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51B08312-8F35-5FC7-81AB-DF2C224B863D}"/>
              </a:ext>
            </a:extLst>
          </p:cNvPr>
          <p:cNvPicPr>
            <a:picLocks noChangeAspect="1"/>
          </p:cNvPicPr>
          <p:nvPr/>
        </p:nvPicPr>
        <p:blipFill>
          <a:blip r:embed="rId2"/>
          <a:stretch>
            <a:fillRect/>
          </a:stretch>
        </p:blipFill>
        <p:spPr>
          <a:xfrm>
            <a:off x="346583" y="845616"/>
            <a:ext cx="5343589" cy="2351179"/>
          </a:xfrm>
          <a:prstGeom prst="rect">
            <a:avLst/>
          </a:prstGeom>
        </p:spPr>
      </p:pic>
      <p:cxnSp>
        <p:nvCxnSpPr>
          <p:cNvPr id="16" name="Straight Connector 15">
            <a:extLst>
              <a:ext uri="{FF2B5EF4-FFF2-40B4-BE49-F238E27FC236}">
                <a16:creationId xmlns:a16="http://schemas.microsoft.com/office/drawing/2014/main" id="{B817B4B8-5E01-4B44-BC25-876D56C1214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96000" y="0"/>
            <a:ext cx="0" cy="320040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CD68E28A-E862-0149-F31C-649099C2073A}"/>
              </a:ext>
            </a:extLst>
          </p:cNvPr>
          <p:cNvPicPr>
            <a:picLocks noChangeAspect="1"/>
          </p:cNvPicPr>
          <p:nvPr/>
        </p:nvPicPr>
        <p:blipFill>
          <a:blip r:embed="rId3"/>
          <a:srcRect r="17924"/>
          <a:stretch/>
        </p:blipFill>
        <p:spPr>
          <a:xfrm>
            <a:off x="8747051" y="4413759"/>
            <a:ext cx="3240734" cy="1845896"/>
          </a:xfrm>
          <a:prstGeom prst="rect">
            <a:avLst/>
          </a:prstGeom>
        </p:spPr>
      </p:pic>
      <p:cxnSp>
        <p:nvCxnSpPr>
          <p:cNvPr id="18" name="Straight Connector 17">
            <a:extLst>
              <a:ext uri="{FF2B5EF4-FFF2-40B4-BE49-F238E27FC236}">
                <a16:creationId xmlns:a16="http://schemas.microsoft.com/office/drawing/2014/main" id="{D683D1A4-93E5-4A4D-B103-8223A220EB2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621742" y="3200400"/>
            <a:ext cx="0" cy="365760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B0E8ABF4-C289-489E-BEFB-3077F9D9C77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552330" y="3200400"/>
            <a:ext cx="0" cy="365760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7989CFA0-35DD-4943-B365-488C66B9B19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3609790" y="3197412"/>
            <a:ext cx="4956048" cy="1754"/>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688AD040-1A2B-4FB4-A345-7B9F3E5ED9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0" y="3994133"/>
            <a:ext cx="3602736" cy="1754"/>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823B704A-724B-41D6-8F33-76939E727D2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8534400" y="3994133"/>
            <a:ext cx="3657600" cy="1754"/>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E573E5A8-267F-41FB-05A2-33DA18B037AB}"/>
              </a:ext>
            </a:extLst>
          </p:cNvPr>
          <p:cNvPicPr>
            <a:picLocks noChangeAspect="1"/>
          </p:cNvPicPr>
          <p:nvPr/>
        </p:nvPicPr>
        <p:blipFill>
          <a:blip r:embed="rId4"/>
          <a:stretch>
            <a:fillRect/>
          </a:stretch>
        </p:blipFill>
        <p:spPr>
          <a:xfrm>
            <a:off x="6332732" y="602224"/>
            <a:ext cx="4057075" cy="2403816"/>
          </a:xfrm>
          <a:prstGeom prst="rect">
            <a:avLst/>
          </a:prstGeom>
        </p:spPr>
      </p:pic>
      <p:pic>
        <p:nvPicPr>
          <p:cNvPr id="7" name="Picture 6">
            <a:extLst>
              <a:ext uri="{FF2B5EF4-FFF2-40B4-BE49-F238E27FC236}">
                <a16:creationId xmlns:a16="http://schemas.microsoft.com/office/drawing/2014/main" id="{BDE18C07-8EE5-4115-3339-5E18BB50F259}"/>
              </a:ext>
            </a:extLst>
          </p:cNvPr>
          <p:cNvPicPr>
            <a:picLocks noChangeAspect="1"/>
          </p:cNvPicPr>
          <p:nvPr/>
        </p:nvPicPr>
        <p:blipFill>
          <a:blip r:embed="rId5"/>
          <a:stretch>
            <a:fillRect/>
          </a:stretch>
        </p:blipFill>
        <p:spPr>
          <a:xfrm>
            <a:off x="3972529" y="3664328"/>
            <a:ext cx="4173070" cy="2096967"/>
          </a:xfrm>
          <a:prstGeom prst="rect">
            <a:avLst/>
          </a:prstGeom>
        </p:spPr>
      </p:pic>
      <p:pic>
        <p:nvPicPr>
          <p:cNvPr id="5" name="Picture 4">
            <a:extLst>
              <a:ext uri="{FF2B5EF4-FFF2-40B4-BE49-F238E27FC236}">
                <a16:creationId xmlns:a16="http://schemas.microsoft.com/office/drawing/2014/main" id="{DF731BB2-0C97-564E-DC48-A73089F92B8E}"/>
              </a:ext>
            </a:extLst>
          </p:cNvPr>
          <p:cNvPicPr>
            <a:picLocks noChangeAspect="1"/>
          </p:cNvPicPr>
          <p:nvPr/>
        </p:nvPicPr>
        <p:blipFill>
          <a:blip r:embed="rId6"/>
          <a:srcRect r="5933"/>
          <a:stretch/>
        </p:blipFill>
        <p:spPr>
          <a:xfrm>
            <a:off x="204216" y="4389667"/>
            <a:ext cx="3361578" cy="1840401"/>
          </a:xfrm>
          <a:prstGeom prst="rect">
            <a:avLst/>
          </a:prstGeom>
        </p:spPr>
      </p:pic>
      <p:sp>
        <p:nvSpPr>
          <p:cNvPr id="12" name="TextBox 11">
            <a:extLst>
              <a:ext uri="{FF2B5EF4-FFF2-40B4-BE49-F238E27FC236}">
                <a16:creationId xmlns:a16="http://schemas.microsoft.com/office/drawing/2014/main" id="{E0139F71-4939-489B-BFDE-8284943C7710}"/>
              </a:ext>
            </a:extLst>
          </p:cNvPr>
          <p:cNvSpPr txBox="1"/>
          <p:nvPr/>
        </p:nvSpPr>
        <p:spPr>
          <a:xfrm>
            <a:off x="344887" y="118872"/>
            <a:ext cx="2367956" cy="523220"/>
          </a:xfrm>
          <a:prstGeom prst="rect">
            <a:avLst/>
          </a:prstGeom>
          <a:noFill/>
        </p:spPr>
        <p:txBody>
          <a:bodyPr wrap="none" rtlCol="0">
            <a:spAutoFit/>
          </a:bodyPr>
          <a:lstStyle/>
          <a:p>
            <a:r>
              <a:rPr lang="en-US" sz="2800" u="sng" dirty="0"/>
              <a:t>Create tables:</a:t>
            </a:r>
          </a:p>
        </p:txBody>
      </p:sp>
      <p:pic>
        <p:nvPicPr>
          <p:cNvPr id="4098" name="Picture 2" descr="Top 10 Mental Health Symbols, Meanings ...">
            <a:extLst>
              <a:ext uri="{FF2B5EF4-FFF2-40B4-BE49-F238E27FC236}">
                <a16:creationId xmlns:a16="http://schemas.microsoft.com/office/drawing/2014/main" id="{1E356835-2B2D-B8EF-D617-2A5041AE056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795819" y="2781983"/>
            <a:ext cx="1174170" cy="1064714"/>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Mental Health Awareness Ribbon ...">
            <a:extLst>
              <a:ext uri="{FF2B5EF4-FFF2-40B4-BE49-F238E27FC236}">
                <a16:creationId xmlns:a16="http://schemas.microsoft.com/office/drawing/2014/main" id="{A84CD937-FC69-B3D1-6447-067BD6F4447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290134" y="5726811"/>
            <a:ext cx="2049865" cy="953281"/>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descr="598,400+ Mental Health Stock Photos, Pictures &amp; Royalty-Free Images -  iStock | Mental health awareness, Mental health icon, Mental health support">
            <a:extLst>
              <a:ext uri="{FF2B5EF4-FFF2-40B4-BE49-F238E27FC236}">
                <a16:creationId xmlns:a16="http://schemas.microsoft.com/office/drawing/2014/main" id="{D7C5464D-683E-9ED4-6555-CE93FFF5B10C}"/>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805854" y="1093243"/>
            <a:ext cx="1605675" cy="13092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817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alpha val="15000"/>
          </a:schemeClr>
        </a:solidFill>
        <a:effectLst/>
      </p:bgPr>
    </p:bg>
    <p:spTree>
      <p:nvGrpSpPr>
        <p:cNvPr id="1" name=""/>
        <p:cNvGrpSpPr/>
        <p:nvPr/>
      </p:nvGrpSpPr>
      <p:grpSpPr>
        <a:xfrm>
          <a:off x="0" y="0"/>
          <a:ext cx="0" cy="0"/>
          <a:chOff x="0" y="0"/>
          <a:chExt cx="0" cy="0"/>
        </a:xfrm>
      </p:grpSpPr>
      <p:sp useBgFill="1">
        <p:nvSpPr>
          <p:cNvPr id="84" name="Rectangle 83">
            <a:extLst>
              <a:ext uri="{FF2B5EF4-FFF2-40B4-BE49-F238E27FC236}">
                <a16:creationId xmlns:a16="http://schemas.microsoft.com/office/drawing/2014/main" id="{AE6CA01B-0DEB-4E9A-9768-B728DA42C1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E49EFD08-FB00-944E-9314-2A32EFD49A90}"/>
              </a:ext>
            </a:extLst>
          </p:cNvPr>
          <p:cNvSpPr txBox="1"/>
          <p:nvPr/>
        </p:nvSpPr>
        <p:spPr>
          <a:xfrm>
            <a:off x="1699821" y="111271"/>
            <a:ext cx="6318649" cy="1454051"/>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3600" dirty="0">
                <a:solidFill>
                  <a:schemeClr val="tx2"/>
                </a:solidFill>
                <a:latin typeface="+mj-lt"/>
                <a:ea typeface="+mj-ea"/>
                <a:cs typeface="+mj-cs"/>
              </a:rPr>
              <a:t>Interactive visuals:</a:t>
            </a:r>
          </a:p>
        </p:txBody>
      </p:sp>
      <p:grpSp>
        <p:nvGrpSpPr>
          <p:cNvPr id="86" name="Group 85">
            <a:extLst>
              <a:ext uri="{FF2B5EF4-FFF2-40B4-BE49-F238E27FC236}">
                <a16:creationId xmlns:a16="http://schemas.microsoft.com/office/drawing/2014/main" id="{A57D8C8E-634E-4E83-9657-225A4DFE47E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4155"/>
            <a:ext cx="2514948" cy="2174333"/>
            <a:chOff x="-305" y="-4155"/>
            <a:chExt cx="2514948" cy="2174333"/>
          </a:xfrm>
        </p:grpSpPr>
        <p:sp>
          <p:nvSpPr>
            <p:cNvPr id="87" name="Freeform: Shape 86">
              <a:extLst>
                <a:ext uri="{FF2B5EF4-FFF2-40B4-BE49-F238E27FC236}">
                  <a16:creationId xmlns:a16="http://schemas.microsoft.com/office/drawing/2014/main" id="{9D5D1578-BE90-4A7E-9856-BB4025E5AE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Freeform: Shape 87">
              <a:extLst>
                <a:ext uri="{FF2B5EF4-FFF2-40B4-BE49-F238E27FC236}">
                  <a16:creationId xmlns:a16="http://schemas.microsoft.com/office/drawing/2014/main" id="{18ADDDE1-EC05-4BE5-9866-89714E0B73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Freeform: Shape 88">
              <a:extLst>
                <a:ext uri="{FF2B5EF4-FFF2-40B4-BE49-F238E27FC236}">
                  <a16:creationId xmlns:a16="http://schemas.microsoft.com/office/drawing/2014/main" id="{0A118A52-E1FF-455C-B1A1-1CF50EE059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90" name="Freeform: Shape 89">
              <a:extLst>
                <a:ext uri="{FF2B5EF4-FFF2-40B4-BE49-F238E27FC236}">
                  <a16:creationId xmlns:a16="http://schemas.microsoft.com/office/drawing/2014/main" id="{30E1677B-677B-48F1-971D-9E7F3CA512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14" name="Picture 13">
            <a:extLst>
              <a:ext uri="{FF2B5EF4-FFF2-40B4-BE49-F238E27FC236}">
                <a16:creationId xmlns:a16="http://schemas.microsoft.com/office/drawing/2014/main" id="{82517487-EA11-0F93-0293-6C72BB44EEC7}"/>
              </a:ext>
            </a:extLst>
          </p:cNvPr>
          <p:cNvPicPr>
            <a:picLocks noChangeAspect="1"/>
          </p:cNvPicPr>
          <p:nvPr/>
        </p:nvPicPr>
        <p:blipFill>
          <a:blip r:embed="rId2"/>
          <a:stretch>
            <a:fillRect/>
          </a:stretch>
        </p:blipFill>
        <p:spPr>
          <a:xfrm>
            <a:off x="604235" y="1943663"/>
            <a:ext cx="7916652" cy="3958326"/>
          </a:xfrm>
          <a:prstGeom prst="rect">
            <a:avLst/>
          </a:prstGeom>
        </p:spPr>
      </p:pic>
      <p:sp>
        <p:nvSpPr>
          <p:cNvPr id="5" name="TextBox 4">
            <a:extLst>
              <a:ext uri="{FF2B5EF4-FFF2-40B4-BE49-F238E27FC236}">
                <a16:creationId xmlns:a16="http://schemas.microsoft.com/office/drawing/2014/main" id="{671C52BC-ED42-9C4E-9F05-457ED631F22D}"/>
              </a:ext>
            </a:extLst>
          </p:cNvPr>
          <p:cNvSpPr txBox="1"/>
          <p:nvPr/>
        </p:nvSpPr>
        <p:spPr>
          <a:xfrm>
            <a:off x="8700619" y="1973316"/>
            <a:ext cx="3311343" cy="3899019"/>
          </a:xfrm>
          <a:prstGeom prst="rect">
            <a:avLst/>
          </a:prstGeom>
        </p:spPr>
        <p:txBody>
          <a:bodyPr vert="horz" lIns="91440" tIns="45720" rIns="91440" bIns="45720" rtlCol="0" anchor="ctr">
            <a:normAutofit lnSpcReduction="10000"/>
          </a:bodyPr>
          <a:lstStyle/>
          <a:p>
            <a:pPr>
              <a:lnSpc>
                <a:spcPct val="90000"/>
              </a:lnSpc>
              <a:spcAft>
                <a:spcPts val="600"/>
              </a:spcAft>
            </a:pPr>
            <a:r>
              <a:rPr lang="en-US" b="0" i="0" dirty="0">
                <a:solidFill>
                  <a:schemeClr val="tx2"/>
                </a:solidFill>
                <a:effectLst/>
              </a:rPr>
              <a:t>*dropdown for years 2022, 2021, and 2020</a:t>
            </a:r>
            <a:r>
              <a:rPr lang="en-US" dirty="0">
                <a:solidFill>
                  <a:schemeClr val="tx2"/>
                </a:solidFill>
              </a:rPr>
              <a:t>, d</a:t>
            </a:r>
            <a:r>
              <a:rPr lang="en-US" b="0" i="0" dirty="0">
                <a:solidFill>
                  <a:schemeClr val="tx2"/>
                </a:solidFill>
                <a:effectLst/>
              </a:rPr>
              <a:t>efaults to 2020</a:t>
            </a:r>
          </a:p>
          <a:p>
            <a:pPr>
              <a:lnSpc>
                <a:spcPct val="90000"/>
              </a:lnSpc>
              <a:spcAft>
                <a:spcPts val="600"/>
              </a:spcAft>
            </a:pPr>
            <a:r>
              <a:rPr lang="en-US" b="0" i="0" dirty="0">
                <a:solidFill>
                  <a:schemeClr val="tx2"/>
                </a:solidFill>
                <a:effectLst/>
              </a:rPr>
              <a:t>*coloration of state on a gradient designed by Adam with dark red being the highest numbers</a:t>
            </a:r>
          </a:p>
          <a:p>
            <a:pPr>
              <a:lnSpc>
                <a:spcPct val="90000"/>
              </a:lnSpc>
              <a:spcAft>
                <a:spcPts val="600"/>
              </a:spcAft>
            </a:pPr>
            <a:r>
              <a:rPr lang="en-US" b="0" i="0" dirty="0">
                <a:solidFill>
                  <a:schemeClr val="tx2"/>
                </a:solidFill>
                <a:effectLst/>
              </a:rPr>
              <a:t>*mouseover adds opacity and state name, </a:t>
            </a:r>
            <a:r>
              <a:rPr lang="en-US" b="0" i="0" dirty="0" err="1">
                <a:solidFill>
                  <a:schemeClr val="tx2"/>
                </a:solidFill>
                <a:effectLst/>
              </a:rPr>
              <a:t>mouseout</a:t>
            </a:r>
            <a:r>
              <a:rPr lang="en-US" b="0" i="0" dirty="0">
                <a:solidFill>
                  <a:schemeClr val="tx2"/>
                </a:solidFill>
                <a:effectLst/>
              </a:rPr>
              <a:t> returns color</a:t>
            </a:r>
          </a:p>
          <a:p>
            <a:pPr>
              <a:lnSpc>
                <a:spcPct val="90000"/>
              </a:lnSpc>
              <a:spcAft>
                <a:spcPts val="600"/>
              </a:spcAft>
            </a:pPr>
            <a:r>
              <a:rPr lang="en-US" b="0" i="0" dirty="0">
                <a:solidFill>
                  <a:schemeClr val="tx2"/>
                </a:solidFill>
                <a:effectLst/>
              </a:rPr>
              <a:t>*clicking on a state adds a popup note shows % of survey takers, with same color as state</a:t>
            </a:r>
          </a:p>
          <a:p>
            <a:pPr>
              <a:lnSpc>
                <a:spcPct val="90000"/>
              </a:lnSpc>
              <a:spcAft>
                <a:spcPts val="600"/>
              </a:spcAft>
            </a:pPr>
            <a:r>
              <a:rPr lang="en-US" b="0" i="0" dirty="0">
                <a:solidFill>
                  <a:schemeClr val="tx2"/>
                </a:solidFill>
                <a:effectLst/>
              </a:rPr>
              <a:t>*data includes all 50 states and the District of Columbia</a:t>
            </a:r>
            <a:endParaRPr lang="en-US" dirty="0">
              <a:solidFill>
                <a:schemeClr val="tx2"/>
              </a:solidFill>
            </a:endParaRPr>
          </a:p>
        </p:txBody>
      </p:sp>
      <p:pic>
        <p:nvPicPr>
          <p:cNvPr id="6" name="Picture 5">
            <a:extLst>
              <a:ext uri="{FF2B5EF4-FFF2-40B4-BE49-F238E27FC236}">
                <a16:creationId xmlns:a16="http://schemas.microsoft.com/office/drawing/2014/main" id="{F04F21AA-BAFF-C66F-9B57-9F6E4F784C2D}"/>
              </a:ext>
            </a:extLst>
          </p:cNvPr>
          <p:cNvPicPr>
            <a:picLocks noChangeAspect="1"/>
          </p:cNvPicPr>
          <p:nvPr/>
        </p:nvPicPr>
        <p:blipFill>
          <a:blip r:embed="rId3"/>
          <a:stretch>
            <a:fillRect/>
          </a:stretch>
        </p:blipFill>
        <p:spPr>
          <a:xfrm>
            <a:off x="625026" y="5971431"/>
            <a:ext cx="1910713" cy="617797"/>
          </a:xfrm>
          <a:prstGeom prst="rect">
            <a:avLst/>
          </a:prstGeom>
        </p:spPr>
      </p:pic>
      <p:pic>
        <p:nvPicPr>
          <p:cNvPr id="4" name="Picture 3">
            <a:extLst>
              <a:ext uri="{FF2B5EF4-FFF2-40B4-BE49-F238E27FC236}">
                <a16:creationId xmlns:a16="http://schemas.microsoft.com/office/drawing/2014/main" id="{34569F9D-2EDE-90EC-4B0A-1576170EB9C6}"/>
              </a:ext>
            </a:extLst>
          </p:cNvPr>
          <p:cNvPicPr>
            <a:picLocks noChangeAspect="1"/>
          </p:cNvPicPr>
          <p:nvPr/>
        </p:nvPicPr>
        <p:blipFill>
          <a:blip r:embed="rId4"/>
          <a:stretch>
            <a:fillRect/>
          </a:stretch>
        </p:blipFill>
        <p:spPr>
          <a:xfrm>
            <a:off x="7358066" y="409026"/>
            <a:ext cx="3774960" cy="632305"/>
          </a:xfrm>
          <a:prstGeom prst="rect">
            <a:avLst/>
          </a:prstGeom>
          <a:ln>
            <a:solidFill>
              <a:schemeClr val="accent6">
                <a:lumMod val="75000"/>
              </a:schemeClr>
            </a:solidFill>
          </a:ln>
        </p:spPr>
      </p:pic>
      <p:sp>
        <p:nvSpPr>
          <p:cNvPr id="7" name="TextBox 6">
            <a:extLst>
              <a:ext uri="{FF2B5EF4-FFF2-40B4-BE49-F238E27FC236}">
                <a16:creationId xmlns:a16="http://schemas.microsoft.com/office/drawing/2014/main" id="{1C910817-AD24-233A-EE24-20D034490410}"/>
              </a:ext>
            </a:extLst>
          </p:cNvPr>
          <p:cNvSpPr txBox="1"/>
          <p:nvPr/>
        </p:nvSpPr>
        <p:spPr>
          <a:xfrm>
            <a:off x="3590085" y="5901989"/>
            <a:ext cx="5534427" cy="230832"/>
          </a:xfrm>
          <a:prstGeom prst="rect">
            <a:avLst/>
          </a:prstGeom>
          <a:noFill/>
        </p:spPr>
        <p:txBody>
          <a:bodyPr wrap="square" rtlCol="0">
            <a:spAutoFit/>
          </a:bodyPr>
          <a:lstStyle/>
          <a:p>
            <a:r>
              <a:rPr lang="en-US" sz="900" b="0" i="0" u="none" strike="noStrike" dirty="0">
                <a:effectLst/>
                <a:latin typeface="Slack-Lato"/>
                <a:hlinkClick r:id="rId5"/>
              </a:rPr>
              <a:t>https://levifahring.github.io/ku_bootcamp_project3/Project%203/Scripts/us_state_map/index.html</a:t>
            </a:r>
            <a:endParaRPr lang="en-US" sz="900" dirty="0"/>
          </a:p>
        </p:txBody>
      </p:sp>
    </p:spTree>
    <p:extLst>
      <p:ext uri="{BB962C8B-B14F-4D97-AF65-F5344CB8AC3E}">
        <p14:creationId xmlns:p14="http://schemas.microsoft.com/office/powerpoint/2010/main" val="13627088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29000">
              <a:schemeClr val="accent6">
                <a:lumMod val="20000"/>
                <a:lumOff val="80000"/>
              </a:schemeClr>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9BD820F-FE21-EB0B-0B17-585BCEDF91C2}"/>
              </a:ext>
            </a:extLst>
          </p:cNvPr>
          <p:cNvPicPr>
            <a:picLocks noChangeAspect="1"/>
          </p:cNvPicPr>
          <p:nvPr/>
        </p:nvPicPr>
        <p:blipFill>
          <a:blip r:embed="rId2"/>
          <a:stretch>
            <a:fillRect/>
          </a:stretch>
        </p:blipFill>
        <p:spPr>
          <a:xfrm>
            <a:off x="84978" y="15703"/>
            <a:ext cx="6264550" cy="3709273"/>
          </a:xfrm>
          <a:prstGeom prst="rect">
            <a:avLst/>
          </a:prstGeom>
        </p:spPr>
      </p:pic>
      <p:pic>
        <p:nvPicPr>
          <p:cNvPr id="9" name="Picture 8">
            <a:extLst>
              <a:ext uri="{FF2B5EF4-FFF2-40B4-BE49-F238E27FC236}">
                <a16:creationId xmlns:a16="http://schemas.microsoft.com/office/drawing/2014/main" id="{DBA63C3E-1B4F-EAC7-6D53-87A9B8DE2E33}"/>
              </a:ext>
            </a:extLst>
          </p:cNvPr>
          <p:cNvPicPr>
            <a:picLocks noChangeAspect="1"/>
          </p:cNvPicPr>
          <p:nvPr/>
        </p:nvPicPr>
        <p:blipFill>
          <a:blip r:embed="rId3"/>
          <a:stretch>
            <a:fillRect/>
          </a:stretch>
        </p:blipFill>
        <p:spPr>
          <a:xfrm>
            <a:off x="6096000" y="3222341"/>
            <a:ext cx="6011022" cy="3523702"/>
          </a:xfrm>
          <a:prstGeom prst="rect">
            <a:avLst/>
          </a:prstGeom>
        </p:spPr>
      </p:pic>
      <p:sp>
        <p:nvSpPr>
          <p:cNvPr id="10" name="TextBox 9">
            <a:extLst>
              <a:ext uri="{FF2B5EF4-FFF2-40B4-BE49-F238E27FC236}">
                <a16:creationId xmlns:a16="http://schemas.microsoft.com/office/drawing/2014/main" id="{A6C6CA32-DE20-BF95-3304-1A9DEB8516FE}"/>
              </a:ext>
            </a:extLst>
          </p:cNvPr>
          <p:cNvSpPr txBox="1"/>
          <p:nvPr/>
        </p:nvSpPr>
        <p:spPr>
          <a:xfrm>
            <a:off x="639897" y="4522527"/>
            <a:ext cx="4901184" cy="923330"/>
          </a:xfrm>
          <a:prstGeom prst="rect">
            <a:avLst/>
          </a:prstGeom>
          <a:noFill/>
        </p:spPr>
        <p:txBody>
          <a:bodyPr wrap="square" rtlCol="0">
            <a:spAutoFit/>
          </a:bodyPr>
          <a:lstStyle/>
          <a:p>
            <a:r>
              <a:rPr lang="en-US" dirty="0"/>
              <a:t>Aggregated the three years of data to determine the ten most at risk states for both suicide and SUD deaths. </a:t>
            </a:r>
          </a:p>
        </p:txBody>
      </p:sp>
      <p:pic>
        <p:nvPicPr>
          <p:cNvPr id="3076" name="Picture 4" descr="SUD privacy laws can affect email marketing">
            <a:extLst>
              <a:ext uri="{FF2B5EF4-FFF2-40B4-BE49-F238E27FC236}">
                <a16:creationId xmlns:a16="http://schemas.microsoft.com/office/drawing/2014/main" id="{9FE118A2-1192-4118-00E0-3BD8166898D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07142" y="522872"/>
            <a:ext cx="2333625" cy="1962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861888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Shape 22">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Isosceles Triangle 24">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descr="A graph of a graph showing the number of data trends&#10;&#10;Description automatically generated with medium confidence">
            <a:extLst>
              <a:ext uri="{FF2B5EF4-FFF2-40B4-BE49-F238E27FC236}">
                <a16:creationId xmlns:a16="http://schemas.microsoft.com/office/drawing/2014/main" id="{AF4349E7-D410-FACA-72C5-A2B0CC0B6D4C}"/>
              </a:ext>
            </a:extLst>
          </p:cNvPr>
          <p:cNvPicPr>
            <a:picLocks noChangeAspect="1"/>
          </p:cNvPicPr>
          <p:nvPr/>
        </p:nvPicPr>
        <p:blipFill>
          <a:blip r:embed="rId2"/>
          <a:stretch>
            <a:fillRect/>
          </a:stretch>
        </p:blipFill>
        <p:spPr>
          <a:xfrm>
            <a:off x="2857008" y="643467"/>
            <a:ext cx="6477983" cy="5571065"/>
          </a:xfrm>
          <a:prstGeom prst="rect">
            <a:avLst/>
          </a:prstGeom>
          <a:ln>
            <a:noFill/>
          </a:ln>
        </p:spPr>
      </p:pic>
      <p:sp>
        <p:nvSpPr>
          <p:cNvPr id="27" name="Isosceles Triangle 26">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980954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26419A6-C571-5C40-B9CD-A9226FB02E0E}"/>
              </a:ext>
            </a:extLst>
          </p:cNvPr>
          <p:cNvSpPr>
            <a:spLocks noGrp="1"/>
          </p:cNvSpPr>
          <p:nvPr>
            <p:ph type="title"/>
          </p:nvPr>
        </p:nvSpPr>
        <p:spPr>
          <a:xfrm>
            <a:off x="686834" y="1153572"/>
            <a:ext cx="3200400" cy="4461163"/>
          </a:xfrm>
        </p:spPr>
        <p:txBody>
          <a:bodyPr>
            <a:normAutofit/>
          </a:bodyPr>
          <a:lstStyle/>
          <a:p>
            <a:r>
              <a:rPr lang="en-US" dirty="0">
                <a:solidFill>
                  <a:srgbClr val="FFFFFF"/>
                </a:solidFill>
              </a:rPr>
              <a:t>Conclusion</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6" name="Content Placeholder 2">
            <a:extLst>
              <a:ext uri="{FF2B5EF4-FFF2-40B4-BE49-F238E27FC236}">
                <a16:creationId xmlns:a16="http://schemas.microsoft.com/office/drawing/2014/main" id="{82696E70-86F8-036E-74A5-6E24693F38CE}"/>
              </a:ext>
            </a:extLst>
          </p:cNvPr>
          <p:cNvSpPr>
            <a:spLocks noGrp="1"/>
          </p:cNvSpPr>
          <p:nvPr>
            <p:ph idx="1"/>
          </p:nvPr>
        </p:nvSpPr>
        <p:spPr>
          <a:xfrm>
            <a:off x="4447308" y="591344"/>
            <a:ext cx="6906491" cy="5585619"/>
          </a:xfrm>
        </p:spPr>
        <p:txBody>
          <a:bodyPr anchor="ctr">
            <a:normAutofit/>
          </a:bodyPr>
          <a:lstStyle/>
          <a:p>
            <a:pPr>
              <a:buFont typeface="Wingdings" panose="05000000000000000000" pitchFamily="2" charset="2"/>
              <a:buChar char="§"/>
            </a:pPr>
            <a:r>
              <a:rPr lang="en-US" sz="2400"/>
              <a:t>COVID-19 pandemic had a clear negative impact on mental health, suicide, and substance use</a:t>
            </a:r>
          </a:p>
          <a:p>
            <a:pPr>
              <a:buFont typeface="Wingdings" panose="05000000000000000000" pitchFamily="2" charset="2"/>
              <a:buChar char="§"/>
            </a:pPr>
            <a:r>
              <a:rPr lang="en-US" sz="2400"/>
              <a:t>In periods of state or national emergency, additional resources need to be allocated to support people who are experiencing these issues particularly if those emergencies persist</a:t>
            </a:r>
          </a:p>
          <a:p>
            <a:pPr>
              <a:buFont typeface="Wingdings" panose="05000000000000000000" pitchFamily="2" charset="2"/>
              <a:buChar char="§"/>
            </a:pPr>
            <a:r>
              <a:rPr lang="en-US" sz="2400"/>
              <a:t>The core at risk states include; </a:t>
            </a:r>
            <a:r>
              <a:rPr lang="en-US" sz="2400" b="0" i="0">
                <a:effectLst/>
                <a:latin typeface="Slack-Lato"/>
              </a:rPr>
              <a:t>Wyoming, Montana, Alaska, New Mexico, Colorado, Idaho, Oklahoma, South Dakota, Nevada, Oregon, West, Virginia, Mississippi, Tennessee, Kentucky, Alabama, Arkansas, Ohio, Missouri, Pennsylvania, Louisiana</a:t>
            </a:r>
            <a:endParaRPr lang="en-US" sz="2400"/>
          </a:p>
          <a:p>
            <a:pPr>
              <a:buFont typeface="Wingdings" panose="05000000000000000000" pitchFamily="2" charset="2"/>
              <a:buChar char="§"/>
            </a:pPr>
            <a:r>
              <a:rPr lang="en-US" sz="2400" b="0" i="0">
                <a:effectLst/>
                <a:latin typeface="Slack-Lato"/>
              </a:rPr>
              <a:t>Investments in rural states will yield a much greater impact as these are the most at-need states</a:t>
            </a:r>
            <a:endParaRPr lang="en-US" sz="2400"/>
          </a:p>
          <a:p>
            <a:pPr>
              <a:buFont typeface="Wingdings" panose="05000000000000000000" pitchFamily="2" charset="2"/>
              <a:buChar char="§"/>
            </a:pPr>
            <a:endParaRPr lang="en-US" sz="2400"/>
          </a:p>
          <a:p>
            <a:pPr>
              <a:buFont typeface="Wingdings" panose="05000000000000000000" pitchFamily="2" charset="2"/>
              <a:buChar char="§"/>
            </a:pPr>
            <a:endParaRPr lang="en-US" sz="2400"/>
          </a:p>
        </p:txBody>
      </p:sp>
    </p:spTree>
    <p:extLst>
      <p:ext uri="{BB962C8B-B14F-4D97-AF65-F5344CB8AC3E}">
        <p14:creationId xmlns:p14="http://schemas.microsoft.com/office/powerpoint/2010/main" val="32500107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3000" b="-3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FE2045-F98D-DB48-FD0B-69D748FF83E3}"/>
              </a:ext>
            </a:extLst>
          </p:cNvPr>
          <p:cNvSpPr>
            <a:spLocks noGrp="1"/>
          </p:cNvSpPr>
          <p:nvPr>
            <p:ph type="ctrTitle"/>
          </p:nvPr>
        </p:nvSpPr>
        <p:spPr>
          <a:xfrm>
            <a:off x="1524000" y="1804944"/>
            <a:ext cx="9144000" cy="2387600"/>
          </a:xfrm>
        </p:spPr>
        <p:txBody>
          <a:bodyPr/>
          <a:lstStyle/>
          <a:p>
            <a:r>
              <a:rPr lang="en-US" dirty="0"/>
              <a:t>THANK YOU!</a:t>
            </a:r>
          </a:p>
        </p:txBody>
      </p:sp>
      <p:sp>
        <p:nvSpPr>
          <p:cNvPr id="3" name="Subtitle 2">
            <a:extLst>
              <a:ext uri="{FF2B5EF4-FFF2-40B4-BE49-F238E27FC236}">
                <a16:creationId xmlns:a16="http://schemas.microsoft.com/office/drawing/2014/main" id="{A1F4BE2B-DC45-8E2E-4F31-F88C867807F7}"/>
              </a:ext>
            </a:extLst>
          </p:cNvPr>
          <p:cNvSpPr>
            <a:spLocks noGrp="1"/>
          </p:cNvSpPr>
          <p:nvPr>
            <p:ph type="subTitle" idx="1"/>
          </p:nvPr>
        </p:nvSpPr>
        <p:spPr>
          <a:xfrm>
            <a:off x="1524000" y="5005836"/>
            <a:ext cx="9144000" cy="1655762"/>
          </a:xfrm>
        </p:spPr>
        <p:txBody>
          <a:bodyPr>
            <a:normAutofit/>
          </a:bodyPr>
          <a:lstStyle/>
          <a:p>
            <a:r>
              <a:rPr lang="en-US" sz="9600" dirty="0">
                <a:solidFill>
                  <a:srgbClr val="FFFF00"/>
                </a:solidFill>
              </a:rPr>
              <a:t>Questions?</a:t>
            </a:r>
          </a:p>
        </p:txBody>
      </p:sp>
    </p:spTree>
    <p:extLst>
      <p:ext uri="{BB962C8B-B14F-4D97-AF65-F5344CB8AC3E}">
        <p14:creationId xmlns:p14="http://schemas.microsoft.com/office/powerpoint/2010/main" val="26469048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Gallery</Template>
  <TotalTime>10108</TotalTime>
  <Words>1019</Words>
  <Application>Microsoft Office PowerPoint</Application>
  <PresentationFormat>Widescreen</PresentationFormat>
  <Paragraphs>57</Paragraphs>
  <Slides>13</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13</vt:i4>
      </vt:variant>
    </vt:vector>
  </HeadingPairs>
  <TitlesOfParts>
    <vt:vector size="22" baseType="lpstr">
      <vt:lpstr>Meiryo</vt:lpstr>
      <vt:lpstr>Aptos</vt:lpstr>
      <vt:lpstr>Aptos Display</vt:lpstr>
      <vt:lpstr>Arial</vt:lpstr>
      <vt:lpstr>Lato</vt:lpstr>
      <vt:lpstr>Nunito</vt:lpstr>
      <vt:lpstr>Slack-Lato</vt:lpstr>
      <vt:lpstr>Wingdings</vt:lpstr>
      <vt:lpstr>Office Theme</vt:lpstr>
      <vt:lpstr>Mental Health 2020 – 2022 Snapshot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Heidi Fox</dc:creator>
  <cp:lastModifiedBy>Heidi Fox</cp:lastModifiedBy>
  <cp:revision>16</cp:revision>
  <dcterms:created xsi:type="dcterms:W3CDTF">2024-10-28T02:59:33Z</dcterms:created>
  <dcterms:modified xsi:type="dcterms:W3CDTF">2024-11-05T01:41:46Z</dcterms:modified>
</cp:coreProperties>
</file>